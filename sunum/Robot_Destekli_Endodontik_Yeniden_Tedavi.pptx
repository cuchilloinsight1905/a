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iriş" id="{69c0bdf7-6e0b-18b2-a9af-22bcb3564cc9}">
          <p14:sldIdLst>
            <p14:sldId id="256"/>
            <p14:sldId id="257"/>
            <p14:sldId id="258"/>
            <p14:sldId id="259"/>
          </p14:sldIdLst>
        </p14:section>
        <p14:section name="Olgu Sunumu" id="{0ad0b343-b299-4cd5-67bb-6dc3a6cd4016}">
          <p14:sldIdLst>
            <p14:sldId id="260"/>
            <p14:sldId id="261"/>
            <p14:sldId id="262"/>
            <p14:sldId id="263"/>
            <p14:sldId id="264"/>
            <p14:sldId id="265"/>
            <p14:sldId id="266"/>
            <p14:sldId id="267"/>
            <p14:sldId id="268"/>
            <p14:sldId id="269"/>
            <p14:sldId id="270"/>
          </p14:sldIdLst>
        </p14:section>
        <p14:section name="Tartışma" id="{3b8c4c44-0729-2ff9-b46b-7386ae6fe451}">
          <p14:sldIdLst>
            <p14:sldId id="271"/>
            <p14:sldId id="272"/>
            <p14:sldId id="273"/>
            <p14:sldId id="274"/>
          </p14:sldIdLst>
        </p14:section>
        <p14:section name="Sonuç" id="{fb5372ef-640d-8c08-c234-470b688d6835}">
          <p14:sldIdLst>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sunum, Qin ve arkadaşlarının 2025 yılında Journal of Endodontics'te yayımlanan olgu sunumunun Türkçe özetidir. Makale, aktif dental robot (ADR) sistemi kullanılarak zirkonya kuron sökülmeden fiber post çıkarılmasını ve kanal tedavisinin yenilenmesini anlatıyor.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Makalenin özetinde vurgulanan ana noktalar: Fiber postlar yeniden tedavide ciddi zorluk çıkarır; yanlış sökülmeleri perforasyon veya kök kırığına yol açabilir. Aktif dental robot sistemleri, önceden girilen talimatlara göre çalışarak hekimin deneyimine bağımlılığı azaltır. Bu olguda robot, zirkonya kuronun içinden post sökümünü başarıyla gerçekleştirdi ve 2,5 ay sonra periradiküler iyileşme gözlendi.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Kanal tedavili, kuronu büyük ölçüde harap dişlerde restorasyonun tutuculuğu için post gerekir. Fiber postlar estetik ve dentine yakın elastik modülleri nedeniyle yaygındır; ancak tedavi başarısız olduğunda sökülmeleri zordur. Gelişen adeziv sistemler bu işi daha da güçleştirir. Frez/ultrasonik yöntemler dentin kaybına, ultrasonik ısınma PDL hasarına, kitler uyumsuzluğa, Er:YAG lazer ise postta tabakalaşma ve kırılmaya yol açabilir.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Statik navigasyon (kılavuz/şablon) hassastır ama yol sabittir ve kovanlar arka bölgede yer kaplar. Dinamik navigasyon esnektir ve gerçek zamanlı takip sağlar, ancak el becerisi gerektirdiğinden öğrenme eğrisi uzundur. Robotik sistemler stabil bir kolla çalışır ve operatöre bağlı hataları en aza indirir. 2024'te Isufi ve ark. ile Liu ve ark. ilk robot destekli endodontik mikrocerrahi olgularını, Wang ve ark. ise alt birinci büyük azı dişte robot destekli post sökümünü bildirmiştir.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Hasta bir aydır devam eden ağrı şikâyetiyle başvurmuş. Diş dört yıl önce başka bir klinikte kanal tedavisi görmüş, post ve zirkonya kuronla restore edilmiş. Klinik muayenede şişlik ve fistül yokken perküsyon ve palpasyon hassasiyeti saptanmış; periodontal değerler normal. Not: Makalede Universal numaralama kullanılmıştır; #20 FDI sisteminde 35 numaralı dişe karşılık gelir.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Periapikal filmde post kanalın üst üçte birine uzanıyor, apikal üçte bir dolgusuz ve periapikal radyolüsensi var. CBCT (70 kV, 3 mA, 8x8 cm görüş alanı, 0,16 mm voksel) postun oklüzal yüzeyden 8,55 mm uzandığını ve kök ucunun mental sinirin komşu dalına yalnızca 2,27 mm uzaklıkta olduğunu gösterdi. Bu yakınlık, cerrahi seçeneklerde sinir hasarı kaygısını artıran önemli bir bulgu.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Hastaya endodontik mikrocerrahi, intansiyonel replantasyon ve cerrahi olmayan yeniden tedavi seçenekleri yarar ve riskleriyle anlatılmış. Hasta sinir hasarı ve maliyet kaygısıyla mevcut kuronun içinden cerrahi olmayan yeniden tedaviyi seçmiş. Robot kolunun ve uzun frezlerin sığabilmesi için arka bölgedeki ağız açıklığı ölçülmüş (Şekil 1F).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Ağız içi tarama (TRIOS 3) ve CBCT verileri birleştirilerek preoperatif plan yapıldı. Sanal yol doğrusal olarak kuronun oklüzal yüzeyinden başlayıp post ile güta-perkanın birleştiği noktada bitecek şekilde, 1,4 mm çap ve 8,6 mm uzunlukta tasarlandı. Hastanın yumuşak ve sert dokularına göre sabitleme ve kayıt aparatları tasarlandı ve 3B yazıcıyla üretildi.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Ağız açıklığı ve sanal yol birlikte değerlendirilerek iki frez seçildi. Birinci aşamada 1,4 mm çaplı yüksek devirli yuvarlak elmas frez zirkonya kurondan 4,3 mm derinliğe kadar giriş açtı. İkinci aşamada 1 mm çaplı, 29 mm boyunda düşük devirli uzun boyunlu karbid frez fiber postu 8,6 mm derinliğe kadar temizledi. Görsellerdeki planlama ekranlarında hedef derinlikler gösterilmektedir (Şekil 2C–F).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İkinci seansta tedavi Yakebot ile yapıldı. Önce yüksek devirli başlık robot koluna takılıp otomatik kalibre edildi; ardından prob altı işaretçiye sırayla dokundurularak kalibre edildi. Bölge rubber dam ile izole edildi. Çene takip cihazına bağlı sabitleme aparatı ön dişlere Protemp 4 ile sabitlendi ve prob kayıt aparatındaki sekiz deliğe sırayla değdirildi. Böylece gerçek aletler ve hasta anatomisi, sanal yollar ve 3B görüntülerle eşleştirildi.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Elmas frez yüksek devirli başlığa takıldı ve sistem doğruluğu için elle diş yüzeyine değdirildi. Operatör pedala bastığında frez otomatik olarak giriş noktasına hizalandı ve 10 N kuvvet eşiğiyle it-çek hareketi yaparak planlanan yolda ilerledi; ön ayarlı derinliğe ulaşınca geri çekildi. Giriş kavitesi ardından operasyon mikroskobunda kontrol edildi.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Robot koluna implant başlığı takıldı, kayıt ve kalibrasyon aynı şekilde tekrarlandı. Uzun boyunlu karbid frez 2000 rpm'de, 1 mm mesafe eşiğiyle it-çek hareketi yaparak otomatik ilerledi; yaklaşık her 2 mm'de kanal serum fizyolojikle yıkandı. 8,6 mm hedef derinliğe ulaşınca frez geri çekildi. Mikroskop altında güta-perka görüldü ve kalan yapıştırma simanı ET20 ultrasonik uçla temizlendi.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Kalan güta-perka temizlendikten sonra kanal bol %1 sodyum hipoklorit eşliğinde Reciproc Blue R25 ile şekillendirildi; kalsiyum hidroksit yerleştirilip Caviton ile geçici kapatıldı. Bir hafta sonra semptom olmayınca kanal güta-perka ve AH Plus ile dolduruldu. Post boşluğu hazırlanıp 1 numara RelyX fiber post RelyX U200 ile yapıştırıldı, giriş kavitesi Filtek Z350 kompozit ile kapatıldı.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Robotik sistem sayesinde fiber post, zirkonya kuron yerindeyken başarıyla söküldü. Tüm yeniden tedavi süreci hassas ve minimal invaziv oldu; iyatrojenik perforasyon, dentin ve kuron hasarı riski azaltıldı. 2,5 aylık kontrolde hasta asemptomatikti ve radyografide periradiküler iyileşme görüldü.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Yazarlara göre bu, rubber dam izolasyonu altında mevcut zirkonya kuronun içinden robot destekli fiber post sökümünü bildiren ilk rapordur.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Aktif robotlar önceden tasarlanmış yolu stabil bir kolla uygular. Serbest elde hekim frez ucuna uygulanan kuvveti hisseder; robot ise kuvveti sürekli ayarlayarak sabit ileri-geri hız sağlar. Kuvvet eşiği zirkonyada aralıklı delmeyi taklit eder. Kanal içindeki aşamada hava türbini yerine elektrikli implant başlığı tercih edilmiş; süre uzasa da titreşim ve ısı azalır. Postun CBCT'deki artefakt nedeniyle olduğundan geniş görünebileceği düşünülerek daha ince (1 mm) frez seçilmiş.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Yazarlar, robot destekli cerrahi olmayan endodontide rubber dam kullanımının önemini vurguluyor. İzolasyonun bilinen yararlarına ek olarak dam, ani hareket veya robot kolunun kontrol kaybı gibi durumlarda bir bariyer görevi görür. Damın el aletlerine karşı direncini azaltmak için iki kroşe kullanılarak dam alt ve üst dişlere yakın tutuldu; böylece başlık ve frezlere yeterli alan kaldı.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Çalışmanın sınırlamaları: Robotik iş akışı çok adımlı ve hataya açık. İki ayrı el aleti iki ayrı kayıt gerektirdiğinden koltuk süresi uzuyor. Frezlerin delme yoluna dik hizalanması gerektiğinden uygun uzunlukta frez bulmak zor. Yüksek ilk yatırım maliyeti teknolojinin yayılmasını kısıtlıyor. Kuvvet ve mesafe eşikleri ile izolasyon yöntemi yalnızca in vitro deneyime dayanıyor. Prosedürlerin sadeleştirilmesi ve standartlaştırılması için daha fazla araştırma gerekli.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Olgu, kuron sökülmeden robot destekli post sökümünün başarılı bir örneği. Sınırlı literatüre rağmen robotik sistemlerin endodontiye otomasyon, güvenlik ve hassasiyet getirme potansiyeli yüksek.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APA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554480"/>
            <a:ext cx="6035040" cy="1828800"/>
          </a:xfrm>
          <a:prstGeom prst="rect">
            <a:avLst/>
          </a:prstGeom>
          <a:noFill/>
          <a:ln/>
        </p:spPr>
        <p:txBody>
          <a:bodyPr wrap="square" rtlCol="0"/>
          <a:lstStyle>
            <a:lvl1pPr algn="l" indent="0" marL="0">
              <a:buNone/>
              <a:defRPr lang="en-US" sz="4000" b="1" dirty="0">
                <a:solidFill>
                  <a:schemeClr val="bg1"/>
                </a:solidFill>
                <a:latin typeface="+mj-lt" pitchFamily="34" charset="0"/>
                <a:ea typeface="+mj-lt" pitchFamily="34" charset="-122"/>
                <a:cs typeface="+mj-lt" pitchFamily="34" charset="-120"/>
              </a:defRPr>
            </a:lvl1pPr>
          </a:lstStyle>
          <a:p>
            <a:pPr algn="l" indent="0" marL="0">
              <a:buNone/>
            </a:pPr>
            <a:endParaRPr lang="en-US" sz="4000" dirty="0"/>
          </a:p>
        </p:txBody>
      </p:sp>
      <p:sp>
        <p:nvSpPr>
          <p:cNvPr id="3" name="Text 0"/>
          <p:cNvSpPr/>
          <p:nvPr>
            <p:ph idx="101" type="body" hasCustomPrompt="1"/>
          </p:nvPr>
        </p:nvSpPr>
        <p:spPr>
          <a:xfrm>
            <a:off x="640080" y="3520440"/>
            <a:ext cx="6035040" cy="731520"/>
          </a:xfrm>
          <a:prstGeom prst="rect">
            <a:avLst/>
          </a:prstGeom>
          <a:noFill/>
          <a:ln/>
        </p:spPr>
        <p:txBody>
          <a:bodyPr wrap="square" rtlCol="0"/>
          <a:lstStyle>
            <a:lvl1pPr algn="l" indent="0" marL="0">
              <a:buNone/>
              <a:defRPr lang="en-US" sz="2000" dirty="0">
                <a:solidFill>
                  <a:schemeClr val="accent3"/>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OLUM">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651760"/>
            <a:ext cx="6400800" cy="1097280"/>
          </a:xfrm>
          <a:prstGeom prst="rect">
            <a:avLst/>
          </a:prstGeom>
          <a:noFill/>
          <a:ln/>
        </p:spPr>
        <p:txBody>
          <a:bodyPr wrap="square" rtlCol="0"/>
          <a:lstStyle>
            <a:lvl1pPr algn="l" indent="0" marL="0">
              <a:buNone/>
              <a:defRPr lang="en-US" sz="4000" b="1" dirty="0">
                <a:solidFill>
                  <a:schemeClr val="bg1"/>
                </a:solidFill>
                <a:latin typeface="+mj-lt" pitchFamily="34" charset="0"/>
                <a:ea typeface="+mj-lt" pitchFamily="34" charset="-122"/>
                <a:cs typeface="+mj-lt" pitchFamily="34" charset="-120"/>
              </a:defRPr>
            </a:lvl1pPr>
          </a:lstStyle>
          <a:p>
            <a:pPr algn="l" indent="0" marL="0">
              <a:buNone/>
            </a:pPr>
            <a:endParaRPr lang="en-US" sz="4000" dirty="0"/>
          </a:p>
        </p:txBody>
      </p:sp>
      <p:sp>
        <p:nvSpPr>
          <p:cNvPr id="3" name="Text 0"/>
          <p:cNvSpPr/>
          <p:nvPr>
            <p:ph idx="101" type="body" hasCustomPrompt="1"/>
          </p:nvPr>
        </p:nvSpPr>
        <p:spPr>
          <a:xfrm>
            <a:off x="640080" y="3749040"/>
            <a:ext cx="6400800" cy="731520"/>
          </a:xfrm>
          <a:prstGeom prst="rect">
            <a:avLst/>
          </a:prstGeom>
          <a:noFill/>
          <a:ln/>
        </p:spPr>
        <p:txBody>
          <a:bodyPr wrap="square" rtlCol="0"/>
          <a:lstStyle>
            <a:lvl1pPr algn="l" indent="0" marL="0">
              <a:buNone/>
              <a:defRPr lang="en-US" sz="1800" dirty="0">
                <a:solidFill>
                  <a:schemeClr val="accent3"/>
                </a:solidFill>
              </a:defRPr>
            </a:lvl1pPr>
          </a:lstStyle>
          <a:p>
            <a:pPr algn="l"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ONUC">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822960"/>
            <a:ext cx="6400800" cy="914400"/>
          </a:xfrm>
          <a:prstGeom prst="rect">
            <a:avLst/>
          </a:prstGeom>
          <a:noFill/>
          <a:ln/>
        </p:spPr>
        <p:txBody>
          <a:bodyPr wrap="square" rtlCol="0"/>
          <a:lstStyle>
            <a:lvl1pPr algn="l" indent="0" marL="0">
              <a:buNone/>
              <a:defRPr lang="en-US" sz="4000" b="1" dirty="0">
                <a:solidFill>
                  <a:schemeClr val="bg1"/>
                </a:solidFill>
                <a:latin typeface="+mj-lt" pitchFamily="34" charset="0"/>
                <a:ea typeface="+mj-lt" pitchFamily="34" charset="-122"/>
                <a:cs typeface="+mj-lt" pitchFamily="34" charset="-120"/>
              </a:defRPr>
            </a:lvl1pPr>
          </a:lstStyle>
          <a:p>
            <a:pPr algn="l" indent="0" marL="0">
              <a:buNone/>
            </a:pPr>
            <a:endParaRPr lang="en-US" sz="40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ICERIK">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indent="0" marL="0">
              <a:buNone/>
              <a:defRPr lang="en-US" sz="3400" b="1" dirty="0">
                <a:solidFill>
                  <a:schemeClr val="tx2"/>
                </a:solidFill>
                <a:latin typeface="+mj-lt" pitchFamily="34" charset="0"/>
                <a:ea typeface="+mj-lt" pitchFamily="34" charset="-122"/>
                <a:cs typeface="+mj-lt" pitchFamily="34" charset="-120"/>
              </a:defRPr>
            </a:lvl1pPr>
          </a:lstStyle>
          <a:p>
            <a:pPr indent="0" marL="0">
              <a:buNone/>
            </a:pPr>
            <a:endParaRPr lang="en-US" sz="34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Qin ve ark. · J Endod 2025;51:521–527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jpg"/><Relationship Id="rId6" Type="http://schemas.openxmlformats.org/officeDocument/2006/relationships/slideLayout" Target="../slideLayouts/slideLayout5.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5.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slideLayout" Target="../slideLayouts/slideLayout5.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jpg"/><Relationship Id="rId3" Type="http://schemas.openxmlformats.org/officeDocument/2006/relationships/image" Target="../media/image-7-3.jpg"/><Relationship Id="rId4" Type="http://schemas.openxmlformats.org/officeDocument/2006/relationships/slideLayout" Target="../slideLayouts/slideLayout5.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jpg"/><Relationship Id="rId3" Type="http://schemas.openxmlformats.org/officeDocument/2006/relationships/slideLayout" Target="../slideLayouts/slideLayout5.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slideLayout" Target="../slideLayouts/slideLayout5.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jpg"/><Relationship Id="rId3" Type="http://schemas.openxmlformats.org/officeDocument/2006/relationships/image" Target="../media/image-10-3.jpg"/><Relationship Id="rId4" Type="http://schemas.openxmlformats.org/officeDocument/2006/relationships/image" Target="../media/image-10-4.jpg"/><Relationship Id="rId5" Type="http://schemas.openxmlformats.org/officeDocument/2006/relationships/slideLayout" Target="../slideLayouts/slideLayout5.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image" Target="../media/image-11-3.jpg"/><Relationship Id="rId4" Type="http://schemas.openxmlformats.org/officeDocument/2006/relationships/image" Target="../media/image-11-4.jpg"/><Relationship Id="rId5" Type="http://schemas.openxmlformats.org/officeDocument/2006/relationships/slideLayout" Target="../slideLayouts/slideLayout5.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slideLayout" Target="../slideLayouts/slideLayout5.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jpg"/><Relationship Id="rId3" Type="http://schemas.openxmlformats.org/officeDocument/2006/relationships/image" Target="../media/image-13-3.jpg"/><Relationship Id="rId4" Type="http://schemas.openxmlformats.org/officeDocument/2006/relationships/slideLayout" Target="../slideLayouts/slideLayout5.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jpg"/><Relationship Id="rId3" Type="http://schemas.openxmlformats.org/officeDocument/2006/relationships/image" Target="../media/image-14-3.jpg"/><Relationship Id="rId4" Type="http://schemas.openxmlformats.org/officeDocument/2006/relationships/slideLayout" Target="../slideLayouts/slideLayout5.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jpg"/><Relationship Id="rId3" Type="http://schemas.openxmlformats.org/officeDocument/2006/relationships/image" Target="../media/image-15-3.jp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slideLayout" Target="../slideLayouts/slideLayout5.xml"/><Relationship Id="rId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5.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jpg"/><Relationship Id="rId5" Type="http://schemas.openxmlformats.org/officeDocument/2006/relationships/slideLayout" Target="../slideLayouts/slideLayout5.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5.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554480"/>
            <a:ext cx="6035040" cy="1828800"/>
          </a:xfrm>
          <a:prstGeom prst="rect">
            <a:avLst/>
          </a:prstGeom>
          <a:noFill/>
          <a:ln/>
        </p:spPr>
        <p:txBody>
          <a:bodyPr wrap="square" lIns="0" tIns="0" rIns="0" bIns="0" rtlCol="0" anchor="b"/>
          <a:lstStyle/>
          <a:p>
            <a:pPr algn="l" indent="0" marL="0">
              <a:buNone/>
            </a:pPr>
            <a:r>
              <a:rPr lang="en-US" sz="4000" b="1" dirty="0">
                <a:solidFill>
                  <a:schemeClr val="bg1"/>
                </a:solidFill>
                <a:latin typeface="+mj-lt" pitchFamily="34" charset="0"/>
                <a:ea typeface="+mj-lt" pitchFamily="34" charset="-122"/>
                <a:cs typeface="+mj-lt" pitchFamily="34" charset="-120"/>
              </a:rPr>
              <a:t>Robot Destekli Endodontik Yeniden Tedavi</a:t>
            </a:r>
            <a:endParaRPr lang="en-US" sz="4000" dirty="0"/>
          </a:p>
        </p:txBody>
      </p:sp>
      <p:sp>
        <p:nvSpPr>
          <p:cNvPr id="3" name="Text 0"/>
          <p:cNvSpPr/>
          <p:nvPr>
            <p:ph idx="101" type="body" hasCustomPrompt="1"/>
          </p:nvPr>
        </p:nvSpPr>
        <p:spPr>
          <a:xfrm>
            <a:off x="640080" y="3520440"/>
            <a:ext cx="6035040" cy="731520"/>
          </a:xfrm>
          <a:prstGeom prst="rect">
            <a:avLst/>
          </a:prstGeom>
          <a:noFill/>
          <a:ln/>
        </p:spPr>
        <p:txBody>
          <a:bodyPr wrap="square" lIns="0" tIns="0" rIns="0" bIns="0" rtlCol="0" anchor="t"/>
          <a:lstStyle/>
          <a:p>
            <a:pPr algn="l" indent="0" marL="0">
              <a:buNone/>
            </a:pPr>
            <a:r>
              <a:rPr lang="en-US" sz="2000" dirty="0">
                <a:solidFill>
                  <a:schemeClr val="accent3"/>
                </a:solidFill>
              </a:rPr>
              <a:t>Bir olgu sunumu ve klinik değerlendirmeler</a:t>
            </a:r>
            <a:endParaRPr lang="en-US" sz="2000" dirty="0"/>
          </a:p>
        </p:txBody>
      </p:sp>
      <p:sp>
        <p:nvSpPr>
          <p:cNvPr id="4" name="Text 2"/>
          <p:cNvSpPr txBox="1"/>
          <p:nvPr/>
        </p:nvSpPr>
        <p:spPr>
          <a:xfrm>
            <a:off x="640080" y="4572000"/>
            <a:ext cx="6035040" cy="365760"/>
          </a:xfrm>
          <a:prstGeom prst="rect">
            <a:avLst/>
          </a:prstGeom>
          <a:noFill/>
          <a:ln/>
        </p:spPr>
        <p:txBody>
          <a:bodyPr wrap="square" lIns="0" tIns="0" rIns="0" bIns="0" rtlCol="0" anchor="ctr"/>
          <a:lstStyle/>
          <a:p>
            <a:pPr indent="0" marL="0">
              <a:buNone/>
            </a:pPr>
            <a:r>
              <a:rPr lang="en-US" sz="1400" dirty="0">
                <a:solidFill>
                  <a:schemeClr val="bg1"/>
                </a:solidFill>
              </a:rPr>
              <a:t>Li Qin, Weiwei Qiao, Chen Chen, Yeyu Lin, Xining Zhang, Liuyan Meng</a:t>
            </a:r>
            <a:endParaRPr lang="en-US" sz="1400" dirty="0"/>
          </a:p>
        </p:txBody>
      </p:sp>
      <p:sp>
        <p:nvSpPr>
          <p:cNvPr id="5" name="Text 3"/>
          <p:cNvSpPr txBox="1"/>
          <p:nvPr/>
        </p:nvSpPr>
        <p:spPr>
          <a:xfrm>
            <a:off x="640080" y="4937760"/>
            <a:ext cx="6035040" cy="320040"/>
          </a:xfrm>
          <a:prstGeom prst="rect">
            <a:avLst/>
          </a:prstGeom>
          <a:noFill/>
          <a:ln/>
        </p:spPr>
        <p:txBody>
          <a:bodyPr wrap="square" lIns="0" tIns="0" rIns="0" bIns="0" rtlCol="0" anchor="ctr"/>
          <a:lstStyle/>
          <a:p>
            <a:pPr indent="0" marL="0">
              <a:buNone/>
            </a:pPr>
            <a:r>
              <a:rPr lang="en-US" sz="1200" dirty="0">
                <a:solidFill>
                  <a:schemeClr val="accent3"/>
                </a:solidFill>
              </a:rPr>
              <a:t>Journal of Endodontics 2025;51(4):521–527 · doi:10.1016/j.joen.2025.01.015</a:t>
            </a:r>
            <a:endParaRPr lang="en-US" sz="1200" dirty="0"/>
          </a:p>
        </p:txBody>
      </p:sp>
      <p:sp>
        <p:nvSpPr>
          <p:cNvPr id="6" name="Text 4"/>
          <p:cNvSpPr txBox="1"/>
          <p:nvPr/>
        </p:nvSpPr>
        <p:spPr>
          <a:xfrm>
            <a:off x="640080" y="5852160"/>
            <a:ext cx="6035040" cy="320040"/>
          </a:xfrm>
          <a:prstGeom prst="rect">
            <a:avLst/>
          </a:prstGeom>
          <a:noFill/>
          <a:ln/>
        </p:spPr>
        <p:txBody>
          <a:bodyPr wrap="square" lIns="0" tIns="0" rIns="0" bIns="0" rtlCol="0" anchor="ctr"/>
          <a:lstStyle/>
          <a:p>
            <a:pPr indent="0" marL="0">
              <a:buNone/>
            </a:pPr>
            <a:r>
              <a:rPr lang="en-US" sz="1200" i="1" dirty="0">
                <a:solidFill>
                  <a:schemeClr val="accent6"/>
                </a:solidFill>
              </a:rPr>
              <a:t>Türkçe özet sunum</a:t>
            </a:r>
            <a:endParaRPr lang="en-US" sz="1200" dirty="0"/>
          </a:p>
        </p:txBody>
      </p:sp>
      <p:pic>
        <p:nvPicPr>
          <p:cNvPr id="7" name="Kapak görseli" descr="Robot kolu ile fiber post sökümü (Şekil 3C)">    </p:cNvPr>
          <p:cNvPicPr>
            <a:picLocks noChangeAspect="1"/>
          </p:cNvPicPr>
          <p:nvPr/>
        </p:nvPicPr>
        <p:blipFill>
          <a:blip r:embed="rId1"/>
          <a:srcRect l="0" r="0" t="0" b="0"/>
          <a:stretch/>
        </p:blipFill>
        <p:spPr>
          <a:xfrm>
            <a:off x="7086600" y="0"/>
            <a:ext cx="5102352"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mj-lt" pitchFamily="34" charset="0"/>
                <a:ea typeface="+mj-lt" pitchFamily="34" charset="-122"/>
                <a:cs typeface="+mj-lt" pitchFamily="34" charset="-120"/>
              </a:rPr>
              <a:t>Olguya Bir Bakış</a:t>
            </a:r>
            <a:endParaRPr lang="en-US" sz="3400" dirty="0"/>
          </a:p>
        </p:txBody>
      </p:sp>
      <p:sp>
        <p:nvSpPr>
          <p:cNvPr id="3" name="Text 1"/>
          <p:cNvSpPr txBox="1"/>
          <p:nvPr/>
        </p:nvSpPr>
        <p:spPr>
          <a:xfrm>
            <a:off x="548640" y="1234440"/>
            <a:ext cx="11064240" cy="731520"/>
          </a:xfrm>
          <a:prstGeom prst="rect">
            <a:avLst/>
          </a:prstGeom>
          <a:noFill/>
          <a:ln/>
        </p:spPr>
        <p:txBody>
          <a:bodyPr wrap="square" lIns="0" tIns="0" rIns="0" bIns="0" rtlCol="0" anchor="ctr"/>
          <a:lstStyle/>
          <a:p>
            <a:pPr indent="0" marL="0">
              <a:buNone/>
            </a:pPr>
            <a:r>
              <a:rPr lang="en-US" sz="1800" dirty="0">
                <a:solidFill>
                  <a:schemeClr val="tx1"/>
                </a:solidFill>
              </a:rPr>
              <a:t>Mevcut zirkonya kuron sökülmeden, aktif dental robot (Yakebot) yardımıyla minimal invaziv bir girişten fiber post başarıyla çıkarıldı.</a:t>
            </a:r>
            <a:endParaRPr lang="en-US" sz="1800" dirty="0"/>
          </a:p>
        </p:txBody>
      </p:sp>
      <p:sp>
        <p:nvSpPr>
          <p:cNvPr id="4" name="Shape 2"/>
          <p:cNvSpPr/>
          <p:nvPr/>
        </p:nvSpPr>
        <p:spPr>
          <a:xfrm>
            <a:off x="548640" y="2240280"/>
            <a:ext cx="2606040" cy="1600200"/>
          </a:xfrm>
          <a:prstGeom prst="roundRect">
            <a:avLst>
              <a:gd name="adj" fmla="val 6857"/>
            </a:avLst>
          </a:prstGeom>
          <a:solidFill>
            <a:schemeClr val="bg2"/>
          </a:solidFill>
          <a:ln/>
        </p:spPr>
      </p:sp>
      <p:sp>
        <p:nvSpPr>
          <p:cNvPr id="5" name="Text 3"/>
          <p:cNvSpPr txBox="1"/>
          <p:nvPr/>
        </p:nvSpPr>
        <p:spPr>
          <a:xfrm>
            <a:off x="777240" y="2377440"/>
            <a:ext cx="2194560" cy="685800"/>
          </a:xfrm>
          <a:prstGeom prst="rect">
            <a:avLst/>
          </a:prstGeom>
          <a:noFill/>
          <a:ln/>
        </p:spPr>
        <p:txBody>
          <a:bodyPr wrap="square" lIns="0" tIns="0" rIns="0" bIns="0" rtlCol="0" anchor="ctr"/>
          <a:lstStyle/>
          <a:p>
            <a:pPr indent="0" marL="0">
              <a:buNone/>
            </a:pPr>
            <a:r>
              <a:rPr lang="en-US" sz="4000" b="1" dirty="0">
                <a:solidFill>
                  <a:schemeClr val="accent1"/>
                </a:solidFill>
                <a:latin typeface="+mj-lt" pitchFamily="34" charset="0"/>
                <a:ea typeface="+mj-lt" pitchFamily="34" charset="-122"/>
                <a:cs typeface="+mj-lt" pitchFamily="34" charset="-120"/>
              </a:rPr>
              <a:t>26</a:t>
            </a:r>
            <a:endParaRPr lang="en-US" sz="4000" dirty="0"/>
          </a:p>
        </p:txBody>
      </p:sp>
      <p:sp>
        <p:nvSpPr>
          <p:cNvPr id="6" name="Text 4"/>
          <p:cNvSpPr txBox="1"/>
          <p:nvPr/>
        </p:nvSpPr>
        <p:spPr>
          <a:xfrm>
            <a:off x="777240" y="3063240"/>
            <a:ext cx="2194560" cy="502920"/>
          </a:xfrm>
          <a:prstGeom prst="rect">
            <a:avLst/>
          </a:prstGeom>
          <a:noFill/>
          <a:ln/>
        </p:spPr>
        <p:txBody>
          <a:bodyPr wrap="square" lIns="0" tIns="0" rIns="0" bIns="0" rtlCol="0" anchor="t"/>
          <a:lstStyle/>
          <a:p>
            <a:pPr indent="0" marL="0">
              <a:buNone/>
            </a:pPr>
            <a:r>
              <a:rPr lang="en-US" sz="1400" dirty="0">
                <a:solidFill>
                  <a:schemeClr val="tx1"/>
                </a:solidFill>
              </a:rPr>
              <a:t>yaşında kadın hasta, alt sol 2. küçük azı (FDI 35)</a:t>
            </a:r>
            <a:endParaRPr lang="en-US" sz="1400" dirty="0"/>
          </a:p>
        </p:txBody>
      </p:sp>
      <p:sp>
        <p:nvSpPr>
          <p:cNvPr id="7" name="Shape 5"/>
          <p:cNvSpPr/>
          <p:nvPr/>
        </p:nvSpPr>
        <p:spPr>
          <a:xfrm>
            <a:off x="3383280" y="2240280"/>
            <a:ext cx="2606040" cy="1600200"/>
          </a:xfrm>
          <a:prstGeom prst="roundRect">
            <a:avLst>
              <a:gd name="adj" fmla="val 6857"/>
            </a:avLst>
          </a:prstGeom>
          <a:solidFill>
            <a:schemeClr val="bg2"/>
          </a:solidFill>
          <a:ln/>
        </p:spPr>
      </p:sp>
      <p:sp>
        <p:nvSpPr>
          <p:cNvPr id="8" name="Text 6"/>
          <p:cNvSpPr txBox="1"/>
          <p:nvPr/>
        </p:nvSpPr>
        <p:spPr>
          <a:xfrm>
            <a:off x="3611880" y="2377440"/>
            <a:ext cx="2194560" cy="685800"/>
          </a:xfrm>
          <a:prstGeom prst="rect">
            <a:avLst/>
          </a:prstGeom>
          <a:noFill/>
          <a:ln/>
        </p:spPr>
        <p:txBody>
          <a:bodyPr wrap="square" lIns="0" tIns="0" rIns="0" bIns="0" rtlCol="0" anchor="ctr"/>
          <a:lstStyle/>
          <a:p>
            <a:pPr indent="0" marL="0">
              <a:buNone/>
            </a:pPr>
            <a:r>
              <a:rPr lang="en-US" sz="4000" b="1" dirty="0">
                <a:solidFill>
                  <a:schemeClr val="accent1"/>
                </a:solidFill>
                <a:latin typeface="+mj-lt" pitchFamily="34" charset="0"/>
                <a:ea typeface="+mj-lt" pitchFamily="34" charset="-122"/>
                <a:cs typeface="+mj-lt" pitchFamily="34" charset="-120"/>
              </a:rPr>
              <a:t>1,4 mm</a:t>
            </a:r>
            <a:endParaRPr lang="en-US" sz="4000" dirty="0"/>
          </a:p>
        </p:txBody>
      </p:sp>
      <p:sp>
        <p:nvSpPr>
          <p:cNvPr id="9" name="Text 7"/>
          <p:cNvSpPr txBox="1"/>
          <p:nvPr/>
        </p:nvSpPr>
        <p:spPr>
          <a:xfrm>
            <a:off x="3611880" y="3063240"/>
            <a:ext cx="2194560" cy="502920"/>
          </a:xfrm>
          <a:prstGeom prst="rect">
            <a:avLst/>
          </a:prstGeom>
          <a:noFill/>
          <a:ln/>
        </p:spPr>
        <p:txBody>
          <a:bodyPr wrap="square" lIns="0" tIns="0" rIns="0" bIns="0" rtlCol="0" anchor="t"/>
          <a:lstStyle/>
          <a:p>
            <a:pPr indent="0" marL="0">
              <a:buNone/>
            </a:pPr>
            <a:r>
              <a:rPr lang="en-US" sz="1400" dirty="0">
                <a:solidFill>
                  <a:schemeClr val="tx1"/>
                </a:solidFill>
              </a:rPr>
              <a:t>sanal giriş yolunun çapı</a:t>
            </a:r>
            <a:endParaRPr lang="en-US" sz="1400" dirty="0"/>
          </a:p>
        </p:txBody>
      </p:sp>
      <p:sp>
        <p:nvSpPr>
          <p:cNvPr id="10" name="Shape 8"/>
          <p:cNvSpPr/>
          <p:nvPr/>
        </p:nvSpPr>
        <p:spPr>
          <a:xfrm>
            <a:off x="6217920" y="2240280"/>
            <a:ext cx="2606040" cy="1600200"/>
          </a:xfrm>
          <a:prstGeom prst="roundRect">
            <a:avLst>
              <a:gd name="adj" fmla="val 6857"/>
            </a:avLst>
          </a:prstGeom>
          <a:solidFill>
            <a:schemeClr val="bg2"/>
          </a:solidFill>
          <a:ln/>
        </p:spPr>
      </p:sp>
      <p:sp>
        <p:nvSpPr>
          <p:cNvPr id="11" name="Text 9"/>
          <p:cNvSpPr txBox="1"/>
          <p:nvPr/>
        </p:nvSpPr>
        <p:spPr>
          <a:xfrm>
            <a:off x="6446520" y="2377440"/>
            <a:ext cx="2194560" cy="685800"/>
          </a:xfrm>
          <a:prstGeom prst="rect">
            <a:avLst/>
          </a:prstGeom>
          <a:noFill/>
          <a:ln/>
        </p:spPr>
        <p:txBody>
          <a:bodyPr wrap="square" lIns="0" tIns="0" rIns="0" bIns="0" rtlCol="0" anchor="ctr"/>
          <a:lstStyle/>
          <a:p>
            <a:pPr indent="0" marL="0">
              <a:buNone/>
            </a:pPr>
            <a:r>
              <a:rPr lang="en-US" sz="4000" b="1" dirty="0">
                <a:solidFill>
                  <a:schemeClr val="accent1"/>
                </a:solidFill>
                <a:latin typeface="+mj-lt" pitchFamily="34" charset="0"/>
                <a:ea typeface="+mj-lt" pitchFamily="34" charset="-122"/>
                <a:cs typeface="+mj-lt" pitchFamily="34" charset="-120"/>
              </a:rPr>
              <a:t>8,6 mm</a:t>
            </a:r>
            <a:endParaRPr lang="en-US" sz="4000" dirty="0"/>
          </a:p>
        </p:txBody>
      </p:sp>
      <p:sp>
        <p:nvSpPr>
          <p:cNvPr id="12" name="Text 10"/>
          <p:cNvSpPr txBox="1"/>
          <p:nvPr/>
        </p:nvSpPr>
        <p:spPr>
          <a:xfrm>
            <a:off x="6446520" y="3063240"/>
            <a:ext cx="2194560" cy="502920"/>
          </a:xfrm>
          <a:prstGeom prst="rect">
            <a:avLst/>
          </a:prstGeom>
          <a:noFill/>
          <a:ln/>
        </p:spPr>
        <p:txBody>
          <a:bodyPr wrap="square" lIns="0" tIns="0" rIns="0" bIns="0" rtlCol="0" anchor="t"/>
          <a:lstStyle/>
          <a:p>
            <a:pPr indent="0" marL="0">
              <a:buNone/>
            </a:pPr>
            <a:r>
              <a:rPr lang="en-US" sz="1400" dirty="0">
                <a:solidFill>
                  <a:schemeClr val="tx1"/>
                </a:solidFill>
              </a:rPr>
              <a:t>planlanan delme derinliği</a:t>
            </a:r>
            <a:endParaRPr lang="en-US" sz="1400" dirty="0"/>
          </a:p>
        </p:txBody>
      </p:sp>
      <p:sp>
        <p:nvSpPr>
          <p:cNvPr id="13" name="Shape 11"/>
          <p:cNvSpPr/>
          <p:nvPr/>
        </p:nvSpPr>
        <p:spPr>
          <a:xfrm>
            <a:off x="9052560" y="2240280"/>
            <a:ext cx="2606040" cy="1600200"/>
          </a:xfrm>
          <a:prstGeom prst="roundRect">
            <a:avLst>
              <a:gd name="adj" fmla="val 6857"/>
            </a:avLst>
          </a:prstGeom>
          <a:solidFill>
            <a:schemeClr val="bg2"/>
          </a:solidFill>
          <a:ln/>
        </p:spPr>
      </p:sp>
      <p:sp>
        <p:nvSpPr>
          <p:cNvPr id="14" name="Text 12"/>
          <p:cNvSpPr txBox="1"/>
          <p:nvPr/>
        </p:nvSpPr>
        <p:spPr>
          <a:xfrm>
            <a:off x="9281160" y="2377440"/>
            <a:ext cx="2194560" cy="685800"/>
          </a:xfrm>
          <a:prstGeom prst="rect">
            <a:avLst/>
          </a:prstGeom>
          <a:noFill/>
          <a:ln/>
        </p:spPr>
        <p:txBody>
          <a:bodyPr wrap="square" lIns="0" tIns="0" rIns="0" bIns="0" rtlCol="0" anchor="ctr"/>
          <a:lstStyle/>
          <a:p>
            <a:pPr indent="0" marL="0">
              <a:buNone/>
            </a:pPr>
            <a:r>
              <a:rPr lang="en-US" sz="4000" b="1" dirty="0">
                <a:solidFill>
                  <a:schemeClr val="accent1"/>
                </a:solidFill>
                <a:latin typeface="+mj-lt" pitchFamily="34" charset="0"/>
                <a:ea typeface="+mj-lt" pitchFamily="34" charset="-122"/>
                <a:cs typeface="+mj-lt" pitchFamily="34" charset="-120"/>
              </a:rPr>
              <a:t>2,5 ay</a:t>
            </a:r>
            <a:endParaRPr lang="en-US" sz="4000" dirty="0"/>
          </a:p>
        </p:txBody>
      </p:sp>
      <p:sp>
        <p:nvSpPr>
          <p:cNvPr id="15" name="Text 13"/>
          <p:cNvSpPr txBox="1"/>
          <p:nvPr/>
        </p:nvSpPr>
        <p:spPr>
          <a:xfrm>
            <a:off x="9281160" y="3063240"/>
            <a:ext cx="2194560" cy="502920"/>
          </a:xfrm>
          <a:prstGeom prst="rect">
            <a:avLst/>
          </a:prstGeom>
          <a:noFill/>
          <a:ln/>
        </p:spPr>
        <p:txBody>
          <a:bodyPr wrap="square" lIns="0" tIns="0" rIns="0" bIns="0" rtlCol="0" anchor="t"/>
          <a:lstStyle/>
          <a:p>
            <a:pPr indent="0" marL="0">
              <a:buNone/>
            </a:pPr>
            <a:r>
              <a:rPr lang="en-US" sz="1400" dirty="0">
                <a:solidFill>
                  <a:schemeClr val="tx1"/>
                </a:solidFill>
              </a:rPr>
              <a:t>takipte semptom yok, iyileşme var</a:t>
            </a:r>
            <a:endParaRPr lang="en-US" sz="1400" dirty="0"/>
          </a:p>
        </p:txBody>
      </p:sp>
      <p:sp>
        <p:nvSpPr>
          <p:cNvPr id="16" name="Text 14"/>
          <p:cNvSpPr txBox="1"/>
          <p:nvPr/>
        </p:nvSpPr>
        <p:spPr>
          <a:xfrm>
            <a:off x="548640" y="4160520"/>
            <a:ext cx="11064240" cy="2011680"/>
          </a:xfrm>
          <a:prstGeom prst="rect">
            <a:avLst/>
          </a:prstGeom>
          <a:noFill/>
          <a:ln/>
        </p:spPr>
        <p:txBody>
          <a:bodyPr wrap="square" lIns="0" tIns="0" rIns="0" bIns="0" rtlCol="0" anchor="t"/>
          <a:lstStyle/>
          <a:p>
            <a:pPr marL="203200" indent="-203200">
              <a:spcAft>
                <a:spcPts val="800"/>
              </a:spcAft>
              <a:buSzPct val="100000"/>
              <a:buChar char="•"/>
            </a:pPr>
            <a:r>
              <a:rPr lang="en-US" sz="1600" b="1" dirty="0">
                <a:solidFill>
                  <a:schemeClr val="tx1"/>
                </a:solidFill>
              </a:rPr>
              <a:t>Tanı: </a:t>
            </a:r>
            <a:pPr indent="0" marL="0">
              <a:spcAft>
                <a:spcPts val="800"/>
              </a:spcAft>
              <a:buNone/>
            </a:pPr>
            <a:r>
              <a:rPr lang="en-US" sz="1600" dirty="0">
                <a:solidFill>
                  <a:schemeClr val="tx1"/>
                </a:solidFill>
              </a:rPr>
              <a:t>Daha önce tedavi edilmiş diş – semptomatik apikal periodontitis</a:t>
            </a:r>
            <a:endParaRPr lang="en-US" sz="1600" dirty="0"/>
          </a:p>
          <a:p>
            <a:pPr marL="203200" indent="-203200">
              <a:spcAft>
                <a:spcPts val="800"/>
              </a:spcAft>
              <a:buSzPct val="100000"/>
              <a:buChar char="•"/>
            </a:pPr>
            <a:r>
              <a:rPr lang="en-US" sz="1600" b="1" dirty="0">
                <a:solidFill>
                  <a:schemeClr val="tx1"/>
                </a:solidFill>
              </a:rPr>
              <a:t>Yöntem: </a:t>
            </a:r>
            <a:pPr indent="0" marL="0">
              <a:spcAft>
                <a:spcPts val="800"/>
              </a:spcAft>
              <a:buNone/>
            </a:pPr>
            <a:r>
              <a:rPr lang="en-US" sz="1600" dirty="0">
                <a:solidFill>
                  <a:schemeClr val="tx1"/>
                </a:solidFill>
              </a:rPr>
              <a:t>CBCT + ağız içi tarama ile planlama; robot kolu, önceden belirlenen kuvvet ve mesafe eşikleriyle "pompalama" hareketi yaptı</a:t>
            </a:r>
            <a:endParaRPr lang="en-US" sz="1600" dirty="0"/>
          </a:p>
          <a:p>
            <a:pPr marL="203200" indent="-203200">
              <a:spcAft>
                <a:spcPts val="800"/>
              </a:spcAft>
              <a:buSzPct val="100000"/>
              <a:buChar char="•"/>
            </a:pPr>
            <a:r>
              <a:rPr lang="en-US" sz="1600" b="1" dirty="0">
                <a:solidFill>
                  <a:schemeClr val="tx1"/>
                </a:solidFill>
              </a:rPr>
              <a:t>Önem: </a:t>
            </a:r>
            <a:pPr indent="0" marL="0">
              <a:spcAft>
                <a:spcPts val="800"/>
              </a:spcAft>
              <a:buNone/>
            </a:pPr>
            <a:r>
              <a:rPr lang="en-US" sz="1600" dirty="0">
                <a:solidFill>
                  <a:schemeClr val="tx1"/>
                </a:solidFill>
              </a:rPr>
              <a:t>Uygun çeneler arası mesafesi olan seçilmiş olgularda robotik teknolojinin yeniden tedavideki potansiyelini gösteriyor</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mj-lt" pitchFamily="34" charset="0"/>
                <a:ea typeface="+mj-lt" pitchFamily="34" charset="-122"/>
                <a:cs typeface="+mj-lt" pitchFamily="34" charset="-120"/>
              </a:rPr>
              <a:t>Fiber Post Sökümü Neden Zor?</a:t>
            </a:r>
            <a:endParaRPr lang="en-US" sz="3400" dirty="0"/>
          </a:p>
        </p:txBody>
      </p:sp>
      <p:sp>
        <p:nvSpPr>
          <p:cNvPr id="3" name="Shape 1"/>
          <p:cNvSpPr/>
          <p:nvPr/>
        </p:nvSpPr>
        <p:spPr>
          <a:xfrm>
            <a:off x="548640" y="1417320"/>
            <a:ext cx="566928" cy="566928"/>
          </a:xfrm>
          <a:prstGeom prst="ellipse">
            <a:avLst/>
          </a:prstGeom>
          <a:solidFill>
            <a:schemeClr val="accent1"/>
          </a:solidFill>
          <a:ln/>
        </p:spPr>
      </p:sp>
      <p:pic>
        <p:nvPicPr>
          <p:cNvPr id="4" name="Image 0" descr="preencoded.png">    </p:cNvPr>
          <p:cNvPicPr>
            <a:picLocks noChangeAspect="1"/>
          </p:cNvPicPr>
          <p:nvPr/>
        </p:nvPicPr>
        <p:blipFill>
          <a:blip r:embed="rId1"/>
          <a:stretch>
            <a:fillRect/>
          </a:stretch>
        </p:blipFill>
        <p:spPr>
          <a:xfrm>
            <a:off x="690372" y="1559052"/>
            <a:ext cx="283464" cy="283464"/>
          </a:xfrm>
          <a:prstGeom prst="rect">
            <a:avLst/>
          </a:prstGeom>
        </p:spPr>
      </p:pic>
      <p:sp>
        <p:nvSpPr>
          <p:cNvPr id="5" name="Text 2"/>
          <p:cNvSpPr txBox="1"/>
          <p:nvPr/>
        </p:nvSpPr>
        <p:spPr>
          <a:xfrm>
            <a:off x="1325880" y="1371600"/>
            <a:ext cx="5120640" cy="365760"/>
          </a:xfrm>
          <a:prstGeom prst="rect">
            <a:avLst/>
          </a:prstGeom>
          <a:noFill/>
          <a:ln/>
        </p:spPr>
        <p:txBody>
          <a:bodyPr wrap="square" lIns="0" tIns="0" rIns="0" bIns="0" rtlCol="0" anchor="ctr"/>
          <a:lstStyle/>
          <a:p>
            <a:pPr indent="0" marL="0">
              <a:buNone/>
            </a:pPr>
            <a:r>
              <a:rPr lang="en-US" sz="1800" b="1" dirty="0">
                <a:solidFill>
                  <a:schemeClr val="tx2"/>
                </a:solidFill>
              </a:rPr>
              <a:t>Aşırı dentin kaybı</a:t>
            </a:r>
            <a:endParaRPr lang="en-US" sz="1800" dirty="0"/>
          </a:p>
        </p:txBody>
      </p:sp>
      <p:sp>
        <p:nvSpPr>
          <p:cNvPr id="6" name="Text 3"/>
          <p:cNvSpPr txBox="1"/>
          <p:nvPr/>
        </p:nvSpPr>
        <p:spPr>
          <a:xfrm>
            <a:off x="1325880" y="1755648"/>
            <a:ext cx="5120640" cy="640080"/>
          </a:xfrm>
          <a:prstGeom prst="rect">
            <a:avLst/>
          </a:prstGeom>
          <a:noFill/>
          <a:ln/>
        </p:spPr>
        <p:txBody>
          <a:bodyPr wrap="square" lIns="0" tIns="0" rIns="0" bIns="0" rtlCol="0" anchor="t"/>
          <a:lstStyle/>
          <a:p>
            <a:pPr indent="0" marL="0">
              <a:buNone/>
            </a:pPr>
            <a:r>
              <a:rPr lang="en-US" sz="1500" dirty="0">
                <a:solidFill>
                  <a:schemeClr val="tx1"/>
                </a:solidFill>
              </a:rPr>
              <a:t>Frez ve ultrasonik uçlarla serbest elle çalışmak kökün kırılma direncini azaltabilir</a:t>
            </a:r>
            <a:endParaRPr lang="en-US" sz="1500" dirty="0"/>
          </a:p>
        </p:txBody>
      </p:sp>
      <p:sp>
        <p:nvSpPr>
          <p:cNvPr id="7" name="Shape 4"/>
          <p:cNvSpPr/>
          <p:nvPr/>
        </p:nvSpPr>
        <p:spPr>
          <a:xfrm>
            <a:off x="548640" y="2606040"/>
            <a:ext cx="566928" cy="566928"/>
          </a:xfrm>
          <a:prstGeom prst="ellipse">
            <a:avLst/>
          </a:prstGeom>
          <a:solidFill>
            <a:schemeClr val="accent1"/>
          </a:solidFill>
          <a:ln/>
        </p:spPr>
      </p:sp>
      <p:pic>
        <p:nvPicPr>
          <p:cNvPr id="8" name="Image 1" descr="preencoded.png">    </p:cNvPr>
          <p:cNvPicPr>
            <a:picLocks noChangeAspect="1"/>
          </p:cNvPicPr>
          <p:nvPr/>
        </p:nvPicPr>
        <p:blipFill>
          <a:blip r:embed="rId2"/>
          <a:stretch>
            <a:fillRect/>
          </a:stretch>
        </p:blipFill>
        <p:spPr>
          <a:xfrm>
            <a:off x="690372" y="2747772"/>
            <a:ext cx="283464" cy="283464"/>
          </a:xfrm>
          <a:prstGeom prst="rect">
            <a:avLst/>
          </a:prstGeom>
        </p:spPr>
      </p:pic>
      <p:sp>
        <p:nvSpPr>
          <p:cNvPr id="9" name="Text 5"/>
          <p:cNvSpPr txBox="1"/>
          <p:nvPr/>
        </p:nvSpPr>
        <p:spPr>
          <a:xfrm>
            <a:off x="1325880" y="2560320"/>
            <a:ext cx="5120640" cy="365760"/>
          </a:xfrm>
          <a:prstGeom prst="rect">
            <a:avLst/>
          </a:prstGeom>
          <a:noFill/>
          <a:ln/>
        </p:spPr>
        <p:txBody>
          <a:bodyPr wrap="square" lIns="0" tIns="0" rIns="0" bIns="0" rtlCol="0" anchor="ctr"/>
          <a:lstStyle/>
          <a:p>
            <a:pPr indent="0" marL="0">
              <a:buNone/>
            </a:pPr>
            <a:r>
              <a:rPr lang="en-US" sz="1800" b="1" dirty="0">
                <a:solidFill>
                  <a:schemeClr val="tx2"/>
                </a:solidFill>
              </a:rPr>
              <a:t>Isı ve zaman</a:t>
            </a:r>
            <a:endParaRPr lang="en-US" sz="1800" dirty="0"/>
          </a:p>
        </p:txBody>
      </p:sp>
      <p:sp>
        <p:nvSpPr>
          <p:cNvPr id="10" name="Text 6"/>
          <p:cNvSpPr txBox="1"/>
          <p:nvPr/>
        </p:nvSpPr>
        <p:spPr>
          <a:xfrm>
            <a:off x="1325880" y="2944368"/>
            <a:ext cx="5120640" cy="640080"/>
          </a:xfrm>
          <a:prstGeom prst="rect">
            <a:avLst/>
          </a:prstGeom>
          <a:noFill/>
          <a:ln/>
        </p:spPr>
        <p:txBody>
          <a:bodyPr wrap="square" lIns="0" tIns="0" rIns="0" bIns="0" rtlCol="0" anchor="t"/>
          <a:lstStyle/>
          <a:p>
            <a:pPr indent="0" marL="0">
              <a:buNone/>
            </a:pPr>
            <a:r>
              <a:rPr lang="en-US" sz="1500" dirty="0">
                <a:solidFill>
                  <a:schemeClr val="tx1"/>
                </a:solidFill>
              </a:rPr>
              <a:t>Ultrasonik yöntem uzun sürer; yeterli soğutma olmazsa periodontal ligament hasarı ve ankiloz riski</a:t>
            </a:r>
            <a:endParaRPr lang="en-US" sz="1500" dirty="0"/>
          </a:p>
        </p:txBody>
      </p:sp>
      <p:sp>
        <p:nvSpPr>
          <p:cNvPr id="11" name="Shape 7"/>
          <p:cNvSpPr/>
          <p:nvPr/>
        </p:nvSpPr>
        <p:spPr>
          <a:xfrm>
            <a:off x="548640" y="3794760"/>
            <a:ext cx="566928" cy="566928"/>
          </a:xfrm>
          <a:prstGeom prst="ellipse">
            <a:avLst/>
          </a:prstGeom>
          <a:solidFill>
            <a:schemeClr val="accent1"/>
          </a:solidFill>
          <a:ln/>
        </p:spPr>
      </p:sp>
      <p:pic>
        <p:nvPicPr>
          <p:cNvPr id="12" name="Image 2" descr="preencoded.png">    </p:cNvPr>
          <p:cNvPicPr>
            <a:picLocks noChangeAspect="1"/>
          </p:cNvPicPr>
          <p:nvPr/>
        </p:nvPicPr>
        <p:blipFill>
          <a:blip r:embed="rId3"/>
          <a:stretch>
            <a:fillRect/>
          </a:stretch>
        </p:blipFill>
        <p:spPr>
          <a:xfrm>
            <a:off x="690372" y="3936492"/>
            <a:ext cx="283464" cy="283464"/>
          </a:xfrm>
          <a:prstGeom prst="rect">
            <a:avLst/>
          </a:prstGeom>
        </p:spPr>
      </p:pic>
      <p:sp>
        <p:nvSpPr>
          <p:cNvPr id="13" name="Text 8"/>
          <p:cNvSpPr txBox="1"/>
          <p:nvPr/>
        </p:nvSpPr>
        <p:spPr>
          <a:xfrm>
            <a:off x="1325880" y="3749040"/>
            <a:ext cx="5120640" cy="365760"/>
          </a:xfrm>
          <a:prstGeom prst="rect">
            <a:avLst/>
          </a:prstGeom>
          <a:noFill/>
          <a:ln/>
        </p:spPr>
        <p:txBody>
          <a:bodyPr wrap="square" lIns="0" tIns="0" rIns="0" bIns="0" rtlCol="0" anchor="ctr"/>
          <a:lstStyle/>
          <a:p>
            <a:pPr indent="0" marL="0">
              <a:buNone/>
            </a:pPr>
            <a:r>
              <a:rPr lang="en-US" sz="1800" b="1" dirty="0">
                <a:solidFill>
                  <a:schemeClr val="tx2"/>
                </a:solidFill>
              </a:rPr>
              <a:t>Sınırlı kit uyumluluğu</a:t>
            </a:r>
            <a:endParaRPr lang="en-US" sz="1800" dirty="0"/>
          </a:p>
        </p:txBody>
      </p:sp>
      <p:sp>
        <p:nvSpPr>
          <p:cNvPr id="14" name="Text 9"/>
          <p:cNvSpPr txBox="1"/>
          <p:nvPr/>
        </p:nvSpPr>
        <p:spPr>
          <a:xfrm>
            <a:off x="1325880" y="4133088"/>
            <a:ext cx="5120640" cy="640080"/>
          </a:xfrm>
          <a:prstGeom prst="rect">
            <a:avLst/>
          </a:prstGeom>
          <a:noFill/>
          <a:ln/>
        </p:spPr>
        <p:txBody>
          <a:bodyPr wrap="square" lIns="0" tIns="0" rIns="0" bIns="0" rtlCol="0" anchor="t"/>
          <a:lstStyle/>
          <a:p>
            <a:pPr indent="0" marL="0">
              <a:buNone/>
            </a:pPr>
            <a:r>
              <a:rPr lang="en-US" sz="1500" dirty="0">
                <a:solidFill>
                  <a:schemeClr val="tx1"/>
                </a:solidFill>
              </a:rPr>
              <a:t>Post sökme kitleri her post sistemine uymaz</a:t>
            </a:r>
            <a:endParaRPr lang="en-US" sz="1500" dirty="0"/>
          </a:p>
        </p:txBody>
      </p:sp>
      <p:sp>
        <p:nvSpPr>
          <p:cNvPr id="15" name="Shape 10"/>
          <p:cNvSpPr/>
          <p:nvPr/>
        </p:nvSpPr>
        <p:spPr>
          <a:xfrm>
            <a:off x="548640" y="4983480"/>
            <a:ext cx="566928" cy="566928"/>
          </a:xfrm>
          <a:prstGeom prst="ellipse">
            <a:avLst/>
          </a:prstGeom>
          <a:solidFill>
            <a:schemeClr val="accent1"/>
          </a:solidFill>
          <a:ln/>
        </p:spPr>
      </p:sp>
      <p:pic>
        <p:nvPicPr>
          <p:cNvPr id="16" name="Image 3" descr="preencoded.png">    </p:cNvPr>
          <p:cNvPicPr>
            <a:picLocks noChangeAspect="1"/>
          </p:cNvPicPr>
          <p:nvPr/>
        </p:nvPicPr>
        <p:blipFill>
          <a:blip r:embed="rId4"/>
          <a:stretch>
            <a:fillRect/>
          </a:stretch>
        </p:blipFill>
        <p:spPr>
          <a:xfrm>
            <a:off x="690372" y="5125212"/>
            <a:ext cx="283464" cy="283464"/>
          </a:xfrm>
          <a:prstGeom prst="rect">
            <a:avLst/>
          </a:prstGeom>
        </p:spPr>
      </p:pic>
      <p:sp>
        <p:nvSpPr>
          <p:cNvPr id="17" name="Text 11"/>
          <p:cNvSpPr txBox="1"/>
          <p:nvPr/>
        </p:nvSpPr>
        <p:spPr>
          <a:xfrm>
            <a:off x="1325880" y="4937760"/>
            <a:ext cx="5120640" cy="365760"/>
          </a:xfrm>
          <a:prstGeom prst="rect">
            <a:avLst/>
          </a:prstGeom>
          <a:noFill/>
          <a:ln/>
        </p:spPr>
        <p:txBody>
          <a:bodyPr wrap="square" lIns="0" tIns="0" rIns="0" bIns="0" rtlCol="0" anchor="ctr"/>
          <a:lstStyle/>
          <a:p>
            <a:pPr indent="0" marL="0">
              <a:buNone/>
            </a:pPr>
            <a:r>
              <a:rPr lang="en-US" sz="1800" b="1" dirty="0">
                <a:solidFill>
                  <a:schemeClr val="tx2"/>
                </a:solidFill>
              </a:rPr>
              <a:t>Er:YAG lazer riskleri</a:t>
            </a:r>
            <a:endParaRPr lang="en-US" sz="1800" dirty="0"/>
          </a:p>
        </p:txBody>
      </p:sp>
      <p:sp>
        <p:nvSpPr>
          <p:cNvPr id="18" name="Text 12"/>
          <p:cNvSpPr txBox="1"/>
          <p:nvPr/>
        </p:nvSpPr>
        <p:spPr>
          <a:xfrm>
            <a:off x="1325880" y="5321808"/>
            <a:ext cx="5120640" cy="640080"/>
          </a:xfrm>
          <a:prstGeom prst="rect">
            <a:avLst/>
          </a:prstGeom>
          <a:noFill/>
          <a:ln/>
        </p:spPr>
        <p:txBody>
          <a:bodyPr wrap="square" lIns="0" tIns="0" rIns="0" bIns="0" rtlCol="0" anchor="t"/>
          <a:lstStyle/>
          <a:p>
            <a:pPr indent="0" marL="0">
              <a:buNone/>
            </a:pPr>
            <a:r>
              <a:rPr lang="en-US" sz="1500" dirty="0">
                <a:solidFill>
                  <a:schemeClr val="tx1"/>
                </a:solidFill>
              </a:rPr>
              <a:t>Postta tabakalaşma (delaminasyon) ve kırılma görülebilir</a:t>
            </a:r>
            <a:endParaRPr lang="en-US" sz="1500" dirty="0"/>
          </a:p>
        </p:txBody>
      </p:sp>
      <p:pic>
        <p:nvPicPr>
          <p:cNvPr id="19" name="Şekil 1D" descr="Makaledeki Şekil 1D">    </p:cNvPr>
          <p:cNvPicPr>
            <a:picLocks noChangeAspect="1"/>
          </p:cNvPicPr>
          <p:nvPr/>
        </p:nvPicPr>
        <p:blipFill>
          <a:blip r:embed="rId5"/>
          <a:stretch>
            <a:fillRect/>
          </a:stretch>
        </p:blipFill>
        <p:spPr>
          <a:xfrm>
            <a:off x="6949440" y="1942028"/>
            <a:ext cx="4663440" cy="3339703"/>
          </a:xfrm>
          <a:prstGeom prst="rect">
            <a:avLst/>
          </a:prstGeom>
          <a:effectLst>
            <a:outerShdw sx="100000" sy="100000" kx="0" ky="0" algn="bl" rotWithShape="0" blurRad="76200" dist="25400" dir="5400000">
              <a:srgbClr val="000000">
                <a:alpha val="18000"/>
              </a:srgbClr>
            </a:outerShdw>
          </a:effectLst>
        </p:spPr>
      </p:pic>
      <p:sp>
        <p:nvSpPr>
          <p:cNvPr id="20" name="Text 13"/>
          <p:cNvSpPr txBox="1"/>
          <p:nvPr/>
        </p:nvSpPr>
        <p:spPr>
          <a:xfrm>
            <a:off x="6949440" y="5943600"/>
            <a:ext cx="4663440" cy="292608"/>
          </a:xfrm>
          <a:prstGeom prst="rect">
            <a:avLst/>
          </a:prstGeom>
          <a:noFill/>
          <a:ln/>
        </p:spPr>
        <p:txBody>
          <a:bodyPr wrap="square" lIns="0" tIns="0" rIns="0" bIns="0" rtlCol="0" anchor="ctr"/>
          <a:lstStyle/>
          <a:p>
            <a:pPr algn="ctr" indent="0" marL="0">
              <a:buNone/>
            </a:pPr>
            <a:r>
              <a:rPr lang="en-US" sz="1100" i="1" dirty="0">
                <a:solidFill>
                  <a:schemeClr val="accent5"/>
                </a:solidFill>
              </a:rPr>
              <a:t>CBCT sagital kesit: kök kanalındaki fiber post (Şekil 1D)</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mj-lt" pitchFamily="34" charset="0"/>
                <a:ea typeface="+mj-lt" pitchFamily="34" charset="-122"/>
                <a:cs typeface="+mj-lt" pitchFamily="34" charset="-120"/>
              </a:rPr>
              <a:t>Bilgisayar Destekli Yaklaşımlar</a:t>
            </a:r>
            <a:endParaRPr lang="en-US" sz="3400" dirty="0"/>
          </a:p>
        </p:txBody>
      </p:sp>
      <p:sp>
        <p:nvSpPr>
          <p:cNvPr id="3" name="Shape 1"/>
          <p:cNvSpPr/>
          <p:nvPr/>
        </p:nvSpPr>
        <p:spPr>
          <a:xfrm>
            <a:off x="548640" y="1371600"/>
            <a:ext cx="3474720" cy="4754880"/>
          </a:xfrm>
          <a:prstGeom prst="roundRect">
            <a:avLst>
              <a:gd name="adj" fmla="val 3158"/>
            </a:avLst>
          </a:prstGeom>
          <a:solidFill>
            <a:schemeClr val="bg2"/>
          </a:solidFill>
          <a:ln/>
        </p:spPr>
      </p:sp>
      <p:sp>
        <p:nvSpPr>
          <p:cNvPr id="4" name="Shape 2"/>
          <p:cNvSpPr/>
          <p:nvPr/>
        </p:nvSpPr>
        <p:spPr>
          <a:xfrm>
            <a:off x="822960" y="1645920"/>
            <a:ext cx="640080" cy="64008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982980" y="1805940"/>
            <a:ext cx="320040" cy="320040"/>
          </a:xfrm>
          <a:prstGeom prst="rect">
            <a:avLst/>
          </a:prstGeom>
        </p:spPr>
      </p:pic>
      <p:sp>
        <p:nvSpPr>
          <p:cNvPr id="6" name="Text 3"/>
          <p:cNvSpPr txBox="1"/>
          <p:nvPr/>
        </p:nvSpPr>
        <p:spPr>
          <a:xfrm>
            <a:off x="1600200" y="1645920"/>
            <a:ext cx="2240280" cy="640080"/>
          </a:xfrm>
          <a:prstGeom prst="rect">
            <a:avLst/>
          </a:prstGeom>
          <a:noFill/>
          <a:ln/>
        </p:spPr>
        <p:txBody>
          <a:bodyPr wrap="square" lIns="0" tIns="0" rIns="0" bIns="0" rtlCol="0" anchor="ctr"/>
          <a:lstStyle/>
          <a:p>
            <a:pPr indent="0" marL="0">
              <a:buNone/>
            </a:pPr>
            <a:r>
              <a:rPr lang="en-US" sz="2000" b="1" dirty="0">
                <a:solidFill>
                  <a:schemeClr val="tx2"/>
                </a:solidFill>
              </a:rPr>
              <a:t>Statik navigasyon</a:t>
            </a:r>
            <a:endParaRPr lang="en-US" sz="2000" dirty="0"/>
          </a:p>
        </p:txBody>
      </p:sp>
      <p:sp>
        <p:nvSpPr>
          <p:cNvPr id="7" name="Text 4"/>
          <p:cNvSpPr txBox="1"/>
          <p:nvPr/>
        </p:nvSpPr>
        <p:spPr>
          <a:xfrm>
            <a:off x="822960" y="2560320"/>
            <a:ext cx="2926080" cy="338328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Hassas ve minimal invaziv</a:t>
            </a:r>
            <a:endParaRPr lang="en-US" sz="1500" dirty="0"/>
          </a:p>
          <a:p>
            <a:pPr marL="203200" indent="-203200">
              <a:spcAft>
                <a:spcPts val="800"/>
              </a:spcAft>
              <a:buSzPct val="100000"/>
              <a:buChar char="•"/>
            </a:pPr>
            <a:r>
              <a:rPr lang="en-US" sz="1500" dirty="0">
                <a:solidFill>
                  <a:schemeClr val="tx1"/>
                </a:solidFill>
              </a:rPr>
              <a:t>Delme yolu işlem sırasında değiştirilemez</a:t>
            </a:r>
            <a:endParaRPr lang="en-US" sz="1500" dirty="0"/>
          </a:p>
          <a:p>
            <a:pPr marL="203200" indent="-203200">
              <a:spcAft>
                <a:spcPts val="800"/>
              </a:spcAft>
              <a:buSzPct val="100000"/>
              <a:buChar char="•"/>
            </a:pPr>
            <a:r>
              <a:rPr lang="en-US" sz="1500" dirty="0">
                <a:solidFill>
                  <a:schemeClr val="tx1"/>
                </a:solidFill>
              </a:rPr>
              <a:t>Kılavuz kovanları, dar oklüzal mesafeli posterior bölgede kullanımı kısıtlar</a:t>
            </a:r>
            <a:endParaRPr lang="en-US" sz="1500" dirty="0"/>
          </a:p>
        </p:txBody>
      </p:sp>
      <p:sp>
        <p:nvSpPr>
          <p:cNvPr id="8" name="Shape 5"/>
          <p:cNvSpPr/>
          <p:nvPr/>
        </p:nvSpPr>
        <p:spPr>
          <a:xfrm>
            <a:off x="4297680" y="1371600"/>
            <a:ext cx="3474720" cy="4754880"/>
          </a:xfrm>
          <a:prstGeom prst="roundRect">
            <a:avLst>
              <a:gd name="adj" fmla="val 3158"/>
            </a:avLst>
          </a:prstGeom>
          <a:solidFill>
            <a:schemeClr val="bg2"/>
          </a:solidFill>
          <a:ln/>
        </p:spPr>
      </p:sp>
      <p:sp>
        <p:nvSpPr>
          <p:cNvPr id="9" name="Shape 6"/>
          <p:cNvSpPr/>
          <p:nvPr/>
        </p:nvSpPr>
        <p:spPr>
          <a:xfrm>
            <a:off x="4572000" y="1645920"/>
            <a:ext cx="640080" cy="640080"/>
          </a:xfrm>
          <a:prstGeom prst="ellipse">
            <a:avLst/>
          </a:prstGeom>
          <a:solidFill>
            <a:schemeClr val="accent1"/>
          </a:solidFill>
          <a:ln/>
        </p:spPr>
      </p:sp>
      <p:pic>
        <p:nvPicPr>
          <p:cNvPr id="10" name="Image 1" descr="preencoded.png">    </p:cNvPr>
          <p:cNvPicPr>
            <a:picLocks noChangeAspect="1"/>
          </p:cNvPicPr>
          <p:nvPr/>
        </p:nvPicPr>
        <p:blipFill>
          <a:blip r:embed="rId2"/>
          <a:stretch>
            <a:fillRect/>
          </a:stretch>
        </p:blipFill>
        <p:spPr>
          <a:xfrm>
            <a:off x="4732020" y="1805940"/>
            <a:ext cx="320040" cy="320040"/>
          </a:xfrm>
          <a:prstGeom prst="rect">
            <a:avLst/>
          </a:prstGeom>
        </p:spPr>
      </p:pic>
      <p:sp>
        <p:nvSpPr>
          <p:cNvPr id="11" name="Text 7"/>
          <p:cNvSpPr txBox="1"/>
          <p:nvPr/>
        </p:nvSpPr>
        <p:spPr>
          <a:xfrm>
            <a:off x="5349240" y="1645920"/>
            <a:ext cx="2240280" cy="640080"/>
          </a:xfrm>
          <a:prstGeom prst="rect">
            <a:avLst/>
          </a:prstGeom>
          <a:noFill/>
          <a:ln/>
        </p:spPr>
        <p:txBody>
          <a:bodyPr wrap="square" lIns="0" tIns="0" rIns="0" bIns="0" rtlCol="0" anchor="ctr"/>
          <a:lstStyle/>
          <a:p>
            <a:pPr indent="0" marL="0">
              <a:buNone/>
            </a:pPr>
            <a:r>
              <a:rPr lang="en-US" sz="2000" b="1" dirty="0">
                <a:solidFill>
                  <a:schemeClr val="tx2"/>
                </a:solidFill>
              </a:rPr>
              <a:t>Dinamik navigasyon</a:t>
            </a:r>
            <a:endParaRPr lang="en-US" sz="2000" dirty="0"/>
          </a:p>
        </p:txBody>
      </p:sp>
      <p:sp>
        <p:nvSpPr>
          <p:cNvPr id="12" name="Text 8"/>
          <p:cNvSpPr txBox="1"/>
          <p:nvPr/>
        </p:nvSpPr>
        <p:spPr>
          <a:xfrm>
            <a:off x="4572000" y="2560320"/>
            <a:ext cx="2926080" cy="338328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Plan işlem sırasında esnekçe değiştirilebilir</a:t>
            </a:r>
            <a:endParaRPr lang="en-US" sz="1500" dirty="0"/>
          </a:p>
          <a:p>
            <a:pPr marL="203200" indent="-203200">
              <a:spcAft>
                <a:spcPts val="800"/>
              </a:spcAft>
              <a:buSzPct val="100000"/>
              <a:buChar char="•"/>
            </a:pPr>
            <a:r>
              <a:rPr lang="en-US" sz="1500" dirty="0">
                <a:solidFill>
                  <a:schemeClr val="tx1"/>
                </a:solidFill>
              </a:rPr>
              <a:t>Aletin konumu gerçek zamanlı izlenir</a:t>
            </a:r>
            <a:endParaRPr lang="en-US" sz="1500" dirty="0"/>
          </a:p>
          <a:p>
            <a:pPr marL="203200" indent="-203200">
              <a:spcAft>
                <a:spcPts val="800"/>
              </a:spcAft>
              <a:buSzPct val="100000"/>
              <a:buChar char="•"/>
            </a:pPr>
            <a:r>
              <a:rPr lang="en-US" sz="1500" dirty="0">
                <a:solidFill>
                  <a:schemeClr val="tx1"/>
                </a:solidFill>
              </a:rPr>
              <a:t>El becerisi için uzun öğrenme eğrisi gerektirir</a:t>
            </a:r>
            <a:endParaRPr lang="en-US" sz="1500" dirty="0"/>
          </a:p>
        </p:txBody>
      </p:sp>
      <p:sp>
        <p:nvSpPr>
          <p:cNvPr id="13" name="Shape 9"/>
          <p:cNvSpPr/>
          <p:nvPr/>
        </p:nvSpPr>
        <p:spPr>
          <a:xfrm>
            <a:off x="8046720" y="1371600"/>
            <a:ext cx="3474720" cy="4754880"/>
          </a:xfrm>
          <a:prstGeom prst="roundRect">
            <a:avLst>
              <a:gd name="adj" fmla="val 3158"/>
            </a:avLst>
          </a:prstGeom>
          <a:solidFill>
            <a:schemeClr val="tx2"/>
          </a:solidFill>
          <a:ln/>
        </p:spPr>
      </p:sp>
      <p:sp>
        <p:nvSpPr>
          <p:cNvPr id="14" name="Shape 10"/>
          <p:cNvSpPr/>
          <p:nvPr/>
        </p:nvSpPr>
        <p:spPr>
          <a:xfrm>
            <a:off x="8321040" y="1645920"/>
            <a:ext cx="640080" cy="640080"/>
          </a:xfrm>
          <a:prstGeom prst="ellipse">
            <a:avLst/>
          </a:prstGeom>
          <a:solidFill>
            <a:schemeClr val="accent2"/>
          </a:solidFill>
          <a:ln/>
        </p:spPr>
      </p:sp>
      <p:pic>
        <p:nvPicPr>
          <p:cNvPr id="15" name="Image 2" descr="preencoded.png">    </p:cNvPr>
          <p:cNvPicPr>
            <a:picLocks noChangeAspect="1"/>
          </p:cNvPicPr>
          <p:nvPr/>
        </p:nvPicPr>
        <p:blipFill>
          <a:blip r:embed="rId3"/>
          <a:stretch>
            <a:fillRect/>
          </a:stretch>
        </p:blipFill>
        <p:spPr>
          <a:xfrm>
            <a:off x="8481060" y="1805940"/>
            <a:ext cx="320040" cy="320040"/>
          </a:xfrm>
          <a:prstGeom prst="rect">
            <a:avLst/>
          </a:prstGeom>
        </p:spPr>
      </p:pic>
      <p:sp>
        <p:nvSpPr>
          <p:cNvPr id="16" name="Text 11"/>
          <p:cNvSpPr txBox="1"/>
          <p:nvPr/>
        </p:nvSpPr>
        <p:spPr>
          <a:xfrm>
            <a:off x="9098280" y="1645920"/>
            <a:ext cx="2240280" cy="640080"/>
          </a:xfrm>
          <a:prstGeom prst="rect">
            <a:avLst/>
          </a:prstGeom>
          <a:noFill/>
          <a:ln/>
        </p:spPr>
        <p:txBody>
          <a:bodyPr wrap="square" lIns="0" tIns="0" rIns="0" bIns="0" rtlCol="0" anchor="ctr"/>
          <a:lstStyle/>
          <a:p>
            <a:pPr indent="0" marL="0">
              <a:buNone/>
            </a:pPr>
            <a:r>
              <a:rPr lang="en-US" sz="2000" b="1" dirty="0">
                <a:solidFill>
                  <a:schemeClr val="bg1"/>
                </a:solidFill>
              </a:rPr>
              <a:t>Robotik sistem</a:t>
            </a:r>
            <a:endParaRPr lang="en-US" sz="2000" dirty="0"/>
          </a:p>
        </p:txBody>
      </p:sp>
      <p:sp>
        <p:nvSpPr>
          <p:cNvPr id="17" name="Text 12"/>
          <p:cNvSpPr txBox="1"/>
          <p:nvPr/>
        </p:nvSpPr>
        <p:spPr>
          <a:xfrm>
            <a:off x="8321040" y="2560320"/>
            <a:ext cx="2926080" cy="338328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bg1"/>
                </a:solidFill>
              </a:rPr>
              <a:t>Stabil robot kolu hassas uygulama sağlar</a:t>
            </a:r>
            <a:endParaRPr lang="en-US" sz="1500" dirty="0"/>
          </a:p>
          <a:p>
            <a:pPr marL="203200" indent="-203200">
              <a:spcAft>
                <a:spcPts val="800"/>
              </a:spcAft>
              <a:buSzPct val="100000"/>
              <a:buChar char="•"/>
            </a:pPr>
            <a:r>
              <a:rPr lang="en-US" sz="1500" dirty="0">
                <a:solidFill>
                  <a:schemeClr val="bg1"/>
                </a:solidFill>
              </a:rPr>
              <a:t>Görüş engeli, yorgunluk ve el titremesi kaynaklı hataları azaltır</a:t>
            </a:r>
            <a:endParaRPr lang="en-US" sz="1500" dirty="0"/>
          </a:p>
          <a:p>
            <a:pPr marL="203200" indent="-203200">
              <a:spcAft>
                <a:spcPts val="800"/>
              </a:spcAft>
              <a:buSzPct val="100000"/>
              <a:buChar char="•"/>
            </a:pPr>
            <a:r>
              <a:rPr lang="en-US" sz="1500" dirty="0">
                <a:solidFill>
                  <a:schemeClr val="bg1"/>
                </a:solidFill>
              </a:rPr>
              <a:t>2024'te ilk robot destekli endodontik mikrocerrahi ve post sökümü olguları yayımlandı</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40080" y="2651760"/>
            <a:ext cx="6400800" cy="1097280"/>
          </a:xfrm>
          <a:prstGeom prst="rect">
            <a:avLst/>
          </a:prstGeom>
          <a:noFill/>
          <a:ln/>
        </p:spPr>
        <p:txBody>
          <a:bodyPr wrap="square" lIns="0" tIns="0" rIns="0" bIns="0" rtlCol="0" anchor="ctr"/>
          <a:lstStyle/>
          <a:p>
            <a:pPr algn="l" indent="0" marL="0">
              <a:buNone/>
            </a:pPr>
            <a:r>
              <a:rPr lang="en-US" sz="4000" b="1" dirty="0">
                <a:solidFill>
                  <a:schemeClr val="bg1"/>
                </a:solidFill>
                <a:latin typeface="+mj-lt" pitchFamily="34" charset="0"/>
                <a:ea typeface="+mj-lt" pitchFamily="34" charset="-122"/>
                <a:cs typeface="+mj-lt" pitchFamily="34" charset="-120"/>
              </a:rPr>
              <a:t>Olgu Sunumu</a:t>
            </a:r>
            <a:endParaRPr lang="en-US" sz="4000" dirty="0"/>
          </a:p>
        </p:txBody>
      </p:sp>
      <p:sp>
        <p:nvSpPr>
          <p:cNvPr id="3" name="Text 0"/>
          <p:cNvSpPr/>
          <p:nvPr>
            <p:ph idx="101" type="body" hasCustomPrompt="1"/>
          </p:nvPr>
        </p:nvSpPr>
        <p:spPr>
          <a:xfrm>
            <a:off x="640080" y="3749040"/>
            <a:ext cx="6400800" cy="731520"/>
          </a:xfrm>
          <a:prstGeom prst="rect">
            <a:avLst/>
          </a:prstGeom>
          <a:noFill/>
          <a:ln/>
        </p:spPr>
        <p:txBody>
          <a:bodyPr wrap="square" lIns="0" tIns="0" rIns="0" bIns="0" rtlCol="0" anchor="t"/>
          <a:lstStyle/>
          <a:p>
            <a:pPr algn="l" indent="0" marL="0">
              <a:buNone/>
            </a:pPr>
            <a:r>
              <a:rPr lang="en-US" sz="1800" dirty="0">
                <a:solidFill>
                  <a:schemeClr val="accent3"/>
                </a:solidFill>
              </a:rPr>
              <a:t>Muayene, planlama ve robot destekli tedavi</a:t>
            </a:r>
            <a:endParaRPr lang="en-US" sz="1800" dirty="0"/>
          </a:p>
        </p:txBody>
      </p:sp>
      <p:pic>
        <p:nvPicPr>
          <p:cNvPr id="4" name="Bölüm görseli" descr="Preoperatif periapikal radyografi (Şekil 1C)">    </p:cNvPr>
          <p:cNvPicPr>
            <a:picLocks noChangeAspect="1"/>
          </p:cNvPicPr>
          <p:nvPr/>
        </p:nvPicPr>
        <p:blipFill>
          <a:blip r:embed="rId1"/>
          <a:stretch>
            <a:fillRect/>
          </a:stretch>
        </p:blipFill>
        <p:spPr>
          <a:xfrm>
            <a:off x="7406640" y="1280160"/>
            <a:ext cx="4114800" cy="3137953"/>
          </a:xfrm>
          <a:prstGeom prst="rect">
            <a:avLst/>
          </a:prstGeom>
        </p:spPr>
      </p:pic>
      <p:sp>
        <p:nvSpPr>
          <p:cNvPr id="5" name="Text 2"/>
          <p:cNvSpPr txBox="1"/>
          <p:nvPr/>
        </p:nvSpPr>
        <p:spPr>
          <a:xfrm>
            <a:off x="7406640" y="4509553"/>
            <a:ext cx="4114800" cy="292608"/>
          </a:xfrm>
          <a:prstGeom prst="rect">
            <a:avLst/>
          </a:prstGeom>
          <a:noFill/>
          <a:ln/>
        </p:spPr>
        <p:txBody>
          <a:bodyPr wrap="square" lIns="0" tIns="0" rIns="0" bIns="0" rtlCol="0" anchor="ctr"/>
          <a:lstStyle/>
          <a:p>
            <a:pPr algn="ctr" indent="0" marL="0">
              <a:buNone/>
            </a:pPr>
            <a:r>
              <a:rPr lang="en-US" sz="1100" i="1" dirty="0">
                <a:solidFill>
                  <a:schemeClr val="accent3"/>
                </a:solidFill>
              </a:rPr>
              <a:t>Preoperatif periapikal radyografi (Şekil 1C)</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mj-lt" pitchFamily="34" charset="0"/>
                <a:ea typeface="+mj-lt" pitchFamily="34" charset="-122"/>
                <a:cs typeface="+mj-lt" pitchFamily="34" charset="-120"/>
              </a:rPr>
              <a:t>Klinik Bulgular</a:t>
            </a:r>
            <a:endParaRPr lang="en-US" sz="3400" dirty="0"/>
          </a:p>
        </p:txBody>
      </p:sp>
      <p:sp>
        <p:nvSpPr>
          <p:cNvPr id="3" name="Text 1"/>
          <p:cNvSpPr txBox="1"/>
          <p:nvPr/>
        </p:nvSpPr>
        <p:spPr>
          <a:xfrm>
            <a:off x="548640" y="1371600"/>
            <a:ext cx="4846320" cy="4572000"/>
          </a:xfrm>
          <a:prstGeom prst="rect">
            <a:avLst/>
          </a:prstGeom>
          <a:noFill/>
          <a:ln/>
        </p:spPr>
        <p:txBody>
          <a:bodyPr wrap="square" lIns="0" tIns="0" rIns="0" bIns="0" rtlCol="0" anchor="t"/>
          <a:lstStyle/>
          <a:p>
            <a:pPr marL="203200" indent="-203200">
              <a:spcAft>
                <a:spcPts val="800"/>
              </a:spcAft>
              <a:buSzPct val="100000"/>
              <a:buChar char="•"/>
            </a:pPr>
            <a:r>
              <a:rPr lang="en-US" sz="1700" b="1" dirty="0">
                <a:solidFill>
                  <a:schemeClr val="tx1"/>
                </a:solidFill>
              </a:rPr>
              <a:t>Hasta: </a:t>
            </a:r>
            <a:pPr indent="0" marL="0">
              <a:spcAft>
                <a:spcPts val="800"/>
              </a:spcAft>
              <a:buNone/>
            </a:pPr>
            <a:r>
              <a:rPr lang="en-US" sz="1700" dirty="0">
                <a:solidFill>
                  <a:schemeClr val="tx1"/>
                </a:solidFill>
              </a:rPr>
              <a:t>26 yaşında kadın</a:t>
            </a:r>
            <a:endParaRPr lang="en-US" sz="1700" dirty="0"/>
          </a:p>
          <a:p>
            <a:pPr marL="203200" indent="-203200">
              <a:spcAft>
                <a:spcPts val="800"/>
              </a:spcAft>
              <a:buSzPct val="100000"/>
              <a:buChar char="•"/>
            </a:pPr>
            <a:r>
              <a:rPr lang="en-US" sz="1700" b="1" dirty="0">
                <a:solidFill>
                  <a:schemeClr val="tx1"/>
                </a:solidFill>
              </a:rPr>
              <a:t>Şikâyet: </a:t>
            </a:r>
            <a:pPr indent="0" marL="0">
              <a:spcAft>
                <a:spcPts val="800"/>
              </a:spcAft>
              <a:buNone/>
            </a:pPr>
            <a:r>
              <a:rPr lang="en-US" sz="1700" dirty="0">
                <a:solidFill>
                  <a:schemeClr val="tx1"/>
                </a:solidFill>
              </a:rPr>
              <a:t>Alt sol 2. küçük azı dişte (#20 / FDI 35) 1 aydır ağrı</a:t>
            </a:r>
            <a:endParaRPr lang="en-US" sz="1700" dirty="0"/>
          </a:p>
          <a:p>
            <a:pPr marL="203200" indent="-203200">
              <a:spcAft>
                <a:spcPts val="800"/>
              </a:spcAft>
              <a:buSzPct val="100000"/>
              <a:buChar char="•"/>
            </a:pPr>
            <a:r>
              <a:rPr lang="en-US" sz="1700" b="1" dirty="0">
                <a:solidFill>
                  <a:schemeClr val="tx1"/>
                </a:solidFill>
              </a:rPr>
              <a:t>Öykü: </a:t>
            </a:r>
            <a:pPr indent="0" marL="0">
              <a:spcAft>
                <a:spcPts val="800"/>
              </a:spcAft>
              <a:buNone/>
            </a:pPr>
            <a:r>
              <a:rPr lang="en-US" sz="1700" dirty="0">
                <a:solidFill>
                  <a:schemeClr val="tx1"/>
                </a:solidFill>
              </a:rPr>
              <a:t>4 yıl önce kanal tedavisi, ardından post ve zirkonya kuron</a:t>
            </a:r>
            <a:endParaRPr lang="en-US" sz="1700" dirty="0"/>
          </a:p>
          <a:p>
            <a:pPr marL="203200" indent="-203200">
              <a:spcAft>
                <a:spcPts val="800"/>
              </a:spcAft>
              <a:buSzPct val="100000"/>
              <a:buChar char="•"/>
            </a:pPr>
            <a:r>
              <a:rPr lang="en-US" sz="1700" b="1" dirty="0">
                <a:solidFill>
                  <a:schemeClr val="tx1"/>
                </a:solidFill>
              </a:rPr>
              <a:t>Muayene: </a:t>
            </a:r>
            <a:pPr indent="0" marL="0">
              <a:spcAft>
                <a:spcPts val="800"/>
              </a:spcAft>
              <a:buNone/>
            </a:pPr>
            <a:r>
              <a:rPr lang="en-US" sz="1700" dirty="0">
                <a:solidFill>
                  <a:schemeClr val="tx1"/>
                </a:solidFill>
              </a:rPr>
              <a:t>Şişlik veya fistül yok; perküsyon ve palpasyona hassasiyet var</a:t>
            </a:r>
            <a:endParaRPr lang="en-US" sz="1700" dirty="0"/>
          </a:p>
          <a:p>
            <a:pPr marL="203200" indent="-203200">
              <a:spcAft>
                <a:spcPts val="800"/>
              </a:spcAft>
              <a:buSzPct val="100000"/>
              <a:buChar char="•"/>
            </a:pPr>
            <a:r>
              <a:rPr lang="en-US" sz="1700" b="1" dirty="0">
                <a:solidFill>
                  <a:schemeClr val="tx1"/>
                </a:solidFill>
              </a:rPr>
              <a:t>Periodontal: </a:t>
            </a:r>
            <a:pPr indent="0" marL="0">
              <a:spcAft>
                <a:spcPts val="800"/>
              </a:spcAft>
              <a:buNone/>
            </a:pPr>
            <a:r>
              <a:rPr lang="en-US" sz="1700" dirty="0">
                <a:solidFill>
                  <a:schemeClr val="tx1"/>
                </a:solidFill>
              </a:rPr>
              <a:t>Sondalama derinliği ve mobilite normal sınırlarda</a:t>
            </a:r>
            <a:endParaRPr lang="en-US" sz="1700" dirty="0"/>
          </a:p>
        </p:txBody>
      </p:sp>
      <p:pic>
        <p:nvPicPr>
          <p:cNvPr id="4" name="Şekil 1A" descr="Makaledeki Şekil 1A">    </p:cNvPr>
          <p:cNvPicPr>
            <a:picLocks noChangeAspect="1"/>
          </p:cNvPicPr>
          <p:nvPr/>
        </p:nvPicPr>
        <p:blipFill>
          <a:blip r:embed="rId1"/>
          <a:stretch>
            <a:fillRect/>
          </a:stretch>
        </p:blipFill>
        <p:spPr>
          <a:xfrm>
            <a:off x="7045998" y="1371600"/>
            <a:ext cx="3281604" cy="2240280"/>
          </a:xfrm>
          <a:prstGeom prst="rect">
            <a:avLst/>
          </a:prstGeom>
          <a:effectLst>
            <a:outerShdw sx="100000" sy="100000" kx="0" ky="0" algn="bl" rotWithShape="0" blurRad="76200" dist="25400" dir="5400000">
              <a:srgbClr val="000000">
                <a:alpha val="18000"/>
              </a:srgbClr>
            </a:outerShdw>
          </a:effectLst>
        </p:spPr>
      </p:pic>
      <p:pic>
        <p:nvPicPr>
          <p:cNvPr id="5" name="Şekil 1B" descr="Makaledeki Şekil 1B">    </p:cNvPr>
          <p:cNvPicPr>
            <a:picLocks noChangeAspect="1"/>
          </p:cNvPicPr>
          <p:nvPr/>
        </p:nvPicPr>
        <p:blipFill>
          <a:blip r:embed="rId2"/>
          <a:stretch>
            <a:fillRect/>
          </a:stretch>
        </p:blipFill>
        <p:spPr>
          <a:xfrm>
            <a:off x="7010173" y="3749040"/>
            <a:ext cx="3353255" cy="2240280"/>
          </a:xfrm>
          <a:prstGeom prst="rect">
            <a:avLst/>
          </a:prstGeom>
          <a:effectLst>
            <a:outerShdw sx="100000" sy="100000" kx="0" ky="0" algn="bl" rotWithShape="0" blurRad="76200" dist="25400" dir="5400000">
              <a:srgbClr val="000000">
                <a:alpha val="18000"/>
              </a:srgbClr>
            </a:outerShdw>
          </a:effectLst>
        </p:spPr>
      </p:pic>
      <p:sp>
        <p:nvSpPr>
          <p:cNvPr id="6" name="Text 2"/>
          <p:cNvSpPr txBox="1"/>
          <p:nvPr/>
        </p:nvSpPr>
        <p:spPr>
          <a:xfrm>
            <a:off x="5760720" y="6035040"/>
            <a:ext cx="5852160" cy="292608"/>
          </a:xfrm>
          <a:prstGeom prst="rect">
            <a:avLst/>
          </a:prstGeom>
          <a:noFill/>
          <a:ln/>
        </p:spPr>
        <p:txBody>
          <a:bodyPr wrap="square" lIns="0" tIns="0" rIns="0" bIns="0" rtlCol="0" anchor="ctr"/>
          <a:lstStyle/>
          <a:p>
            <a:pPr algn="ctr" indent="0" marL="0">
              <a:buNone/>
            </a:pPr>
            <a:r>
              <a:rPr lang="en-US" sz="1100" i="1" dirty="0">
                <a:solidFill>
                  <a:schemeClr val="accent5"/>
                </a:solidFill>
              </a:rPr>
              <a:t>Ağız içi fotoğraflar – lateral ve oklüzal görünüm (Şekil 1A–B)</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mj-lt" pitchFamily="34" charset="0"/>
                <a:ea typeface="+mj-lt" pitchFamily="34" charset="-122"/>
                <a:cs typeface="+mj-lt" pitchFamily="34" charset="-120"/>
              </a:rPr>
              <a:t>Radyolojik Değerlendirme</a:t>
            </a:r>
            <a:endParaRPr lang="en-US" sz="3400" dirty="0"/>
          </a:p>
        </p:txBody>
      </p:sp>
      <p:pic>
        <p:nvPicPr>
          <p:cNvPr id="3" name="Şekil 1C" descr="Makaledeki Şekil 1C">    </p:cNvPr>
          <p:cNvPicPr>
            <a:picLocks noChangeAspect="1"/>
          </p:cNvPicPr>
          <p:nvPr/>
        </p:nvPicPr>
        <p:blipFill>
          <a:blip r:embed="rId1"/>
          <a:stretch>
            <a:fillRect/>
          </a:stretch>
        </p:blipFill>
        <p:spPr>
          <a:xfrm>
            <a:off x="728742" y="1325880"/>
            <a:ext cx="3297397" cy="2514600"/>
          </a:xfrm>
          <a:prstGeom prst="rect">
            <a:avLst/>
          </a:prstGeom>
          <a:effectLst>
            <a:outerShdw sx="100000" sy="100000" kx="0" ky="0" algn="bl" rotWithShape="0" blurRad="76200" dist="25400" dir="5400000">
              <a:srgbClr val="000000">
                <a:alpha val="18000"/>
              </a:srgbClr>
            </a:outerShdw>
          </a:effectLst>
        </p:spPr>
      </p:pic>
      <p:pic>
        <p:nvPicPr>
          <p:cNvPr id="4" name="Şekil 1D" descr="Makaledeki Şekil 1D">    </p:cNvPr>
          <p:cNvPicPr>
            <a:picLocks noChangeAspect="1"/>
          </p:cNvPicPr>
          <p:nvPr/>
        </p:nvPicPr>
        <p:blipFill>
          <a:blip r:embed="rId2"/>
          <a:stretch>
            <a:fillRect/>
          </a:stretch>
        </p:blipFill>
        <p:spPr>
          <a:xfrm>
            <a:off x="4416552" y="1325880"/>
            <a:ext cx="3511296" cy="2514600"/>
          </a:xfrm>
          <a:prstGeom prst="rect">
            <a:avLst/>
          </a:prstGeom>
          <a:effectLst>
            <a:outerShdw sx="100000" sy="100000" kx="0" ky="0" algn="bl" rotWithShape="0" blurRad="76200" dist="25400" dir="5400000">
              <a:srgbClr val="000000">
                <a:alpha val="18000"/>
              </a:srgbClr>
            </a:outerShdw>
          </a:effectLst>
        </p:spPr>
      </p:pic>
      <p:pic>
        <p:nvPicPr>
          <p:cNvPr id="5" name="Şekil 1E" descr="Makaledeki Şekil 1E">    </p:cNvPr>
          <p:cNvPicPr>
            <a:picLocks noChangeAspect="1"/>
          </p:cNvPicPr>
          <p:nvPr/>
        </p:nvPicPr>
        <p:blipFill>
          <a:blip r:embed="rId3"/>
          <a:stretch>
            <a:fillRect/>
          </a:stretch>
        </p:blipFill>
        <p:spPr>
          <a:xfrm>
            <a:off x="8250174" y="1325880"/>
            <a:ext cx="3250692" cy="2514600"/>
          </a:xfrm>
          <a:prstGeom prst="rect">
            <a:avLst/>
          </a:prstGeom>
          <a:effectLst>
            <a:outerShdw sx="100000" sy="100000" kx="0" ky="0" algn="bl" rotWithShape="0" blurRad="76200" dist="25400" dir="5400000">
              <a:srgbClr val="000000">
                <a:alpha val="18000"/>
              </a:srgbClr>
            </a:outerShdw>
          </a:effectLst>
        </p:spPr>
      </p:pic>
      <p:sp>
        <p:nvSpPr>
          <p:cNvPr id="6" name="Text 1"/>
          <p:cNvSpPr txBox="1"/>
          <p:nvPr/>
        </p:nvSpPr>
        <p:spPr>
          <a:xfrm>
            <a:off x="548640" y="3886200"/>
            <a:ext cx="3657600" cy="292608"/>
          </a:xfrm>
          <a:prstGeom prst="rect">
            <a:avLst/>
          </a:prstGeom>
          <a:noFill/>
          <a:ln/>
        </p:spPr>
        <p:txBody>
          <a:bodyPr wrap="square" lIns="0" tIns="0" rIns="0" bIns="0" rtlCol="0" anchor="ctr"/>
          <a:lstStyle/>
          <a:p>
            <a:pPr algn="ctr" indent="0" marL="0">
              <a:buNone/>
            </a:pPr>
            <a:r>
              <a:rPr lang="en-US" sz="1100" i="1" dirty="0">
                <a:solidFill>
                  <a:schemeClr val="accent5"/>
                </a:solidFill>
              </a:rPr>
              <a:t>Periapikal radyografi (1C)</a:t>
            </a:r>
            <a:endParaRPr lang="en-US" sz="1100" dirty="0"/>
          </a:p>
        </p:txBody>
      </p:sp>
      <p:sp>
        <p:nvSpPr>
          <p:cNvPr id="7" name="Text 2"/>
          <p:cNvSpPr txBox="1"/>
          <p:nvPr/>
        </p:nvSpPr>
        <p:spPr>
          <a:xfrm>
            <a:off x="4343400" y="3886200"/>
            <a:ext cx="3657600" cy="292608"/>
          </a:xfrm>
          <a:prstGeom prst="rect">
            <a:avLst/>
          </a:prstGeom>
          <a:noFill/>
          <a:ln/>
        </p:spPr>
        <p:txBody>
          <a:bodyPr wrap="square" lIns="0" tIns="0" rIns="0" bIns="0" rtlCol="0" anchor="ctr"/>
          <a:lstStyle/>
          <a:p>
            <a:pPr algn="ctr" indent="0" marL="0">
              <a:buNone/>
            </a:pPr>
            <a:r>
              <a:rPr lang="en-US" sz="1100" i="1" dirty="0">
                <a:solidFill>
                  <a:schemeClr val="accent5"/>
                </a:solidFill>
              </a:rPr>
              <a:t>CBCT sagital (1D)</a:t>
            </a:r>
            <a:endParaRPr lang="en-US" sz="1100" dirty="0"/>
          </a:p>
        </p:txBody>
      </p:sp>
      <p:sp>
        <p:nvSpPr>
          <p:cNvPr id="8" name="Text 3"/>
          <p:cNvSpPr txBox="1"/>
          <p:nvPr/>
        </p:nvSpPr>
        <p:spPr>
          <a:xfrm>
            <a:off x="8138160" y="3886200"/>
            <a:ext cx="3474720" cy="292608"/>
          </a:xfrm>
          <a:prstGeom prst="rect">
            <a:avLst/>
          </a:prstGeom>
          <a:noFill/>
          <a:ln/>
        </p:spPr>
        <p:txBody>
          <a:bodyPr wrap="square" lIns="0" tIns="0" rIns="0" bIns="0" rtlCol="0" anchor="ctr"/>
          <a:lstStyle/>
          <a:p>
            <a:pPr algn="ctr" indent="0" marL="0">
              <a:buNone/>
            </a:pPr>
            <a:r>
              <a:rPr lang="en-US" sz="1100" i="1" dirty="0">
                <a:solidFill>
                  <a:schemeClr val="accent5"/>
                </a:solidFill>
              </a:rPr>
              <a:t>CBCT koronal (1E)</a:t>
            </a:r>
            <a:endParaRPr lang="en-US" sz="1100" dirty="0"/>
          </a:p>
        </p:txBody>
      </p:sp>
      <p:sp>
        <p:nvSpPr>
          <p:cNvPr id="9" name="Text 4"/>
          <p:cNvSpPr txBox="1"/>
          <p:nvPr/>
        </p:nvSpPr>
        <p:spPr>
          <a:xfrm>
            <a:off x="548640" y="4434840"/>
            <a:ext cx="2743200" cy="685800"/>
          </a:xfrm>
          <a:prstGeom prst="rect">
            <a:avLst/>
          </a:prstGeom>
          <a:noFill/>
          <a:ln/>
        </p:spPr>
        <p:txBody>
          <a:bodyPr wrap="square" lIns="0" tIns="0" rIns="0" bIns="0" rtlCol="0" anchor="ctr"/>
          <a:lstStyle/>
          <a:p>
            <a:pPr indent="0" marL="0">
              <a:buNone/>
            </a:pPr>
            <a:r>
              <a:rPr lang="en-US" sz="4000" b="1" dirty="0">
                <a:solidFill>
                  <a:schemeClr val="accent1"/>
                </a:solidFill>
                <a:latin typeface="+mj-lt" pitchFamily="34" charset="0"/>
                <a:ea typeface="+mj-lt" pitchFamily="34" charset="-122"/>
                <a:cs typeface="+mj-lt" pitchFamily="34" charset="-120"/>
              </a:rPr>
              <a:t>8,55 mm</a:t>
            </a:r>
            <a:endParaRPr lang="en-US" sz="4000" dirty="0"/>
          </a:p>
        </p:txBody>
      </p:sp>
      <p:sp>
        <p:nvSpPr>
          <p:cNvPr id="10" name="Text 5"/>
          <p:cNvSpPr txBox="1"/>
          <p:nvPr/>
        </p:nvSpPr>
        <p:spPr>
          <a:xfrm>
            <a:off x="548640" y="5120640"/>
            <a:ext cx="2743200" cy="502920"/>
          </a:xfrm>
          <a:prstGeom prst="rect">
            <a:avLst/>
          </a:prstGeom>
          <a:noFill/>
          <a:ln/>
        </p:spPr>
        <p:txBody>
          <a:bodyPr wrap="square" lIns="0" tIns="0" rIns="0" bIns="0" rtlCol="0" anchor="t"/>
          <a:lstStyle/>
          <a:p>
            <a:pPr indent="0" marL="0">
              <a:buNone/>
            </a:pPr>
            <a:r>
              <a:rPr lang="en-US" sz="1400" dirty="0">
                <a:solidFill>
                  <a:schemeClr val="tx1"/>
                </a:solidFill>
              </a:rPr>
              <a:t>Postun oklüzal yüzeyden uzandığı mesafe</a:t>
            </a:r>
            <a:endParaRPr lang="en-US" sz="1400" dirty="0"/>
          </a:p>
        </p:txBody>
      </p:sp>
      <p:sp>
        <p:nvSpPr>
          <p:cNvPr id="11" name="Text 6"/>
          <p:cNvSpPr txBox="1"/>
          <p:nvPr/>
        </p:nvSpPr>
        <p:spPr>
          <a:xfrm>
            <a:off x="3429000" y="4434840"/>
            <a:ext cx="2743200" cy="685800"/>
          </a:xfrm>
          <a:prstGeom prst="rect">
            <a:avLst/>
          </a:prstGeom>
          <a:noFill/>
          <a:ln/>
        </p:spPr>
        <p:txBody>
          <a:bodyPr wrap="square" lIns="0" tIns="0" rIns="0" bIns="0" rtlCol="0" anchor="ctr"/>
          <a:lstStyle/>
          <a:p>
            <a:pPr indent="0" marL="0">
              <a:buNone/>
            </a:pPr>
            <a:r>
              <a:rPr lang="en-US" sz="4000" b="1" dirty="0">
                <a:solidFill>
                  <a:schemeClr val="accent2"/>
                </a:solidFill>
                <a:latin typeface="+mj-lt" pitchFamily="34" charset="0"/>
                <a:ea typeface="+mj-lt" pitchFamily="34" charset="-122"/>
                <a:cs typeface="+mj-lt" pitchFamily="34" charset="-120"/>
              </a:rPr>
              <a:t>2,27 mm</a:t>
            </a:r>
            <a:endParaRPr lang="en-US" sz="4000" dirty="0"/>
          </a:p>
        </p:txBody>
      </p:sp>
      <p:sp>
        <p:nvSpPr>
          <p:cNvPr id="12" name="Text 7"/>
          <p:cNvSpPr txBox="1"/>
          <p:nvPr/>
        </p:nvSpPr>
        <p:spPr>
          <a:xfrm>
            <a:off x="3429000" y="5120640"/>
            <a:ext cx="2743200" cy="502920"/>
          </a:xfrm>
          <a:prstGeom prst="rect">
            <a:avLst/>
          </a:prstGeom>
          <a:noFill/>
          <a:ln/>
        </p:spPr>
        <p:txBody>
          <a:bodyPr wrap="square" lIns="0" tIns="0" rIns="0" bIns="0" rtlCol="0" anchor="t"/>
          <a:lstStyle/>
          <a:p>
            <a:pPr indent="0" marL="0">
              <a:buNone/>
            </a:pPr>
            <a:r>
              <a:rPr lang="en-US" sz="1400" dirty="0">
                <a:solidFill>
                  <a:schemeClr val="tx1"/>
                </a:solidFill>
              </a:rPr>
              <a:t>Kök apeksi ile mental sinir dalı arası</a:t>
            </a:r>
            <a:endParaRPr lang="en-US" sz="1400" dirty="0"/>
          </a:p>
        </p:txBody>
      </p:sp>
      <p:sp>
        <p:nvSpPr>
          <p:cNvPr id="13" name="Text 8"/>
          <p:cNvSpPr txBox="1"/>
          <p:nvPr/>
        </p:nvSpPr>
        <p:spPr>
          <a:xfrm>
            <a:off x="6400800" y="4434840"/>
            <a:ext cx="5212080" cy="146304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Post, kanalın üst üçte birine uzanıyor</a:t>
            </a:r>
            <a:endParaRPr lang="en-US" sz="1500" dirty="0"/>
          </a:p>
          <a:p>
            <a:pPr marL="203200" indent="-203200">
              <a:spcAft>
                <a:spcPts val="800"/>
              </a:spcAft>
              <a:buSzPct val="100000"/>
              <a:buChar char="•"/>
            </a:pPr>
            <a:r>
              <a:rPr lang="en-US" sz="1500" dirty="0">
                <a:solidFill>
                  <a:schemeClr val="tx1"/>
                </a:solidFill>
              </a:rPr>
              <a:t>Apikal üçte birde kanal dolgusu yok</a:t>
            </a:r>
            <a:endParaRPr lang="en-US" sz="1500" dirty="0"/>
          </a:p>
          <a:p>
            <a:pPr marL="203200" indent="-203200">
              <a:spcAft>
                <a:spcPts val="800"/>
              </a:spcAft>
              <a:buSzPct val="100000"/>
              <a:buChar char="•"/>
            </a:pPr>
            <a:r>
              <a:rPr lang="en-US" sz="1500" dirty="0">
                <a:solidFill>
                  <a:schemeClr val="tx1"/>
                </a:solidFill>
              </a:rPr>
              <a:t>Periapikal radyolüsensi mevcut</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mj-lt" pitchFamily="34" charset="0"/>
                <a:ea typeface="+mj-lt" pitchFamily="34" charset="-122"/>
                <a:cs typeface="+mj-lt" pitchFamily="34" charset="-120"/>
              </a:rPr>
              <a:t>Tedavi Seçenekleri ve Karar</a:t>
            </a:r>
            <a:endParaRPr lang="en-US" sz="3400" dirty="0"/>
          </a:p>
        </p:txBody>
      </p:sp>
      <p:sp>
        <p:nvSpPr>
          <p:cNvPr id="3" name="Shape 1"/>
          <p:cNvSpPr/>
          <p:nvPr/>
        </p:nvSpPr>
        <p:spPr>
          <a:xfrm>
            <a:off x="548640" y="1371600"/>
            <a:ext cx="6400800" cy="731520"/>
          </a:xfrm>
          <a:prstGeom prst="roundRect">
            <a:avLst>
              <a:gd name="adj" fmla="val 15000"/>
            </a:avLst>
          </a:prstGeom>
          <a:solidFill>
            <a:schemeClr val="bg2"/>
          </a:solidFill>
          <a:ln/>
        </p:spPr>
      </p:sp>
      <p:sp>
        <p:nvSpPr>
          <p:cNvPr id="4" name="Text 2"/>
          <p:cNvSpPr txBox="1"/>
          <p:nvPr/>
        </p:nvSpPr>
        <p:spPr>
          <a:xfrm>
            <a:off x="1371600" y="1371600"/>
            <a:ext cx="5486400" cy="731520"/>
          </a:xfrm>
          <a:prstGeom prst="rect">
            <a:avLst/>
          </a:prstGeom>
          <a:noFill/>
          <a:ln/>
        </p:spPr>
        <p:txBody>
          <a:bodyPr wrap="square" lIns="0" tIns="0" rIns="0" bIns="0" rtlCol="0" anchor="ctr"/>
          <a:lstStyle/>
          <a:p>
            <a:pPr indent="0" marL="0">
              <a:buNone/>
            </a:pPr>
            <a:r>
              <a:rPr lang="en-US" sz="1700" dirty="0">
                <a:solidFill>
                  <a:schemeClr val="tx1"/>
                </a:solidFill>
              </a:rPr>
              <a:t>Endodontik mikrocerrahi</a:t>
            </a:r>
            <a:endParaRPr lang="en-US" sz="1700" dirty="0"/>
          </a:p>
        </p:txBody>
      </p:sp>
      <p:sp>
        <p:nvSpPr>
          <p:cNvPr id="5" name="Shape 3"/>
          <p:cNvSpPr/>
          <p:nvPr/>
        </p:nvSpPr>
        <p:spPr>
          <a:xfrm>
            <a:off x="548640" y="2286000"/>
            <a:ext cx="6400800" cy="731520"/>
          </a:xfrm>
          <a:prstGeom prst="roundRect">
            <a:avLst>
              <a:gd name="adj" fmla="val 15000"/>
            </a:avLst>
          </a:prstGeom>
          <a:solidFill>
            <a:schemeClr val="bg2"/>
          </a:solidFill>
          <a:ln/>
        </p:spPr>
      </p:sp>
      <p:sp>
        <p:nvSpPr>
          <p:cNvPr id="6" name="Text 4"/>
          <p:cNvSpPr txBox="1"/>
          <p:nvPr/>
        </p:nvSpPr>
        <p:spPr>
          <a:xfrm>
            <a:off x="1371600" y="2286000"/>
            <a:ext cx="5486400" cy="731520"/>
          </a:xfrm>
          <a:prstGeom prst="rect">
            <a:avLst/>
          </a:prstGeom>
          <a:noFill/>
          <a:ln/>
        </p:spPr>
        <p:txBody>
          <a:bodyPr wrap="square" lIns="0" tIns="0" rIns="0" bIns="0" rtlCol="0" anchor="ctr"/>
          <a:lstStyle/>
          <a:p>
            <a:pPr indent="0" marL="0">
              <a:buNone/>
            </a:pPr>
            <a:r>
              <a:rPr lang="en-US" sz="1700" dirty="0">
                <a:solidFill>
                  <a:schemeClr val="tx1"/>
                </a:solidFill>
              </a:rPr>
              <a:t>İntansiyonel replantasyon</a:t>
            </a:r>
            <a:endParaRPr lang="en-US" sz="1700" dirty="0"/>
          </a:p>
        </p:txBody>
      </p:sp>
      <p:sp>
        <p:nvSpPr>
          <p:cNvPr id="7" name="Shape 5"/>
          <p:cNvSpPr/>
          <p:nvPr/>
        </p:nvSpPr>
        <p:spPr>
          <a:xfrm>
            <a:off x="548640" y="3200400"/>
            <a:ext cx="6400800" cy="731520"/>
          </a:xfrm>
          <a:prstGeom prst="roundRect">
            <a:avLst>
              <a:gd name="adj" fmla="val 15000"/>
            </a:avLst>
          </a:prstGeom>
          <a:solidFill>
            <a:schemeClr val="accent1"/>
          </a:solidFill>
          <a:ln/>
        </p:spPr>
      </p:sp>
      <p:sp>
        <p:nvSpPr>
          <p:cNvPr id="8" name="Shape 6"/>
          <p:cNvSpPr/>
          <p:nvPr/>
        </p:nvSpPr>
        <p:spPr>
          <a:xfrm>
            <a:off x="685800" y="3310128"/>
            <a:ext cx="512064" cy="512064"/>
          </a:xfrm>
          <a:prstGeom prst="ellipse">
            <a:avLst/>
          </a:prstGeom>
          <a:solidFill>
            <a:schemeClr val="accent2"/>
          </a:solidFill>
          <a:ln/>
        </p:spPr>
      </p:sp>
      <p:pic>
        <p:nvPicPr>
          <p:cNvPr id="9" name="Image 0" descr="preencoded.png">    </p:cNvPr>
          <p:cNvPicPr>
            <a:picLocks noChangeAspect="1"/>
          </p:cNvPicPr>
          <p:nvPr/>
        </p:nvPicPr>
        <p:blipFill>
          <a:blip r:embed="rId1"/>
          <a:stretch>
            <a:fillRect/>
          </a:stretch>
        </p:blipFill>
        <p:spPr>
          <a:xfrm>
            <a:off x="813816" y="3438144"/>
            <a:ext cx="256032" cy="256032"/>
          </a:xfrm>
          <a:prstGeom prst="rect">
            <a:avLst/>
          </a:prstGeom>
        </p:spPr>
      </p:pic>
      <p:sp>
        <p:nvSpPr>
          <p:cNvPr id="10" name="Text 7"/>
          <p:cNvSpPr txBox="1"/>
          <p:nvPr/>
        </p:nvSpPr>
        <p:spPr>
          <a:xfrm>
            <a:off x="1371600" y="3200400"/>
            <a:ext cx="5486400" cy="731520"/>
          </a:xfrm>
          <a:prstGeom prst="rect">
            <a:avLst/>
          </a:prstGeom>
          <a:noFill/>
          <a:ln/>
        </p:spPr>
        <p:txBody>
          <a:bodyPr wrap="square" lIns="0" tIns="0" rIns="0" bIns="0" rtlCol="0" anchor="ctr"/>
          <a:lstStyle/>
          <a:p>
            <a:pPr indent="0" marL="0">
              <a:buNone/>
            </a:pPr>
            <a:r>
              <a:rPr lang="en-US" sz="1700" b="1" dirty="0">
                <a:solidFill>
                  <a:schemeClr val="bg1"/>
                </a:solidFill>
              </a:rPr>
              <a:t>Cerrahi olmayan yeniden tedavi (kuron korunarak)</a:t>
            </a:r>
            <a:endParaRPr lang="en-US" sz="1700" dirty="0"/>
          </a:p>
        </p:txBody>
      </p:sp>
      <p:sp>
        <p:nvSpPr>
          <p:cNvPr id="11" name="Text 8"/>
          <p:cNvSpPr txBox="1"/>
          <p:nvPr/>
        </p:nvSpPr>
        <p:spPr>
          <a:xfrm>
            <a:off x="548640" y="4251960"/>
            <a:ext cx="6400800" cy="1920240"/>
          </a:xfrm>
          <a:prstGeom prst="rect">
            <a:avLst/>
          </a:prstGeom>
          <a:noFill/>
          <a:ln/>
        </p:spPr>
        <p:txBody>
          <a:bodyPr wrap="square" lIns="0" tIns="0" rIns="0" bIns="0" rtlCol="0" anchor="t"/>
          <a:lstStyle/>
          <a:p>
            <a:pPr marL="203200" indent="-203200">
              <a:spcAft>
                <a:spcPts val="800"/>
              </a:spcAft>
              <a:buSzPct val="100000"/>
              <a:buChar char="•"/>
            </a:pPr>
            <a:r>
              <a:rPr lang="en-US" sz="1500" b="1" dirty="0">
                <a:solidFill>
                  <a:schemeClr val="tx1"/>
                </a:solidFill>
              </a:rPr>
              <a:t>Hastanın tercihi: </a:t>
            </a:r>
            <a:pPr indent="0" marL="0">
              <a:spcAft>
                <a:spcPts val="800"/>
              </a:spcAft>
              <a:buNone/>
            </a:pPr>
            <a:r>
              <a:rPr lang="en-US" sz="1500" dirty="0">
                <a:solidFill>
                  <a:schemeClr val="tx1"/>
                </a:solidFill>
              </a:rPr>
              <a:t>Sinir hasarı endişesi ve maddi kısıtlar nedeniyle cerrahi dışı yeniden tedavi</a:t>
            </a:r>
            <a:endParaRPr lang="en-US" sz="1500" dirty="0"/>
          </a:p>
          <a:p>
            <a:pPr marL="203200" indent="-203200">
              <a:spcAft>
                <a:spcPts val="800"/>
              </a:spcAft>
              <a:buSzPct val="100000"/>
              <a:buChar char="•"/>
            </a:pPr>
            <a:r>
              <a:rPr lang="en-US" sz="1500" b="1" dirty="0">
                <a:solidFill>
                  <a:schemeClr val="tx1"/>
                </a:solidFill>
              </a:rPr>
              <a:t>Ekibin önerisi: </a:t>
            </a:r>
            <a:pPr indent="0" marL="0">
              <a:spcAft>
                <a:spcPts val="800"/>
              </a:spcAft>
              <a:buNone/>
            </a:pPr>
            <a:r>
              <a:rPr lang="en-US" sz="1500" dirty="0">
                <a:solidFill>
                  <a:schemeClr val="tx1"/>
                </a:solidFill>
              </a:rPr>
              <a:t>Kuronun zarar görmemesi ve perforasyon riskinin azalması için aktif dental robot (Yakebot)</a:t>
            </a:r>
            <a:endParaRPr lang="en-US" sz="1500" dirty="0"/>
          </a:p>
          <a:p>
            <a:pPr marL="203200" indent="-203200">
              <a:spcAft>
                <a:spcPts val="800"/>
              </a:spcAft>
              <a:buSzPct val="100000"/>
              <a:buChar char="•"/>
            </a:pPr>
            <a:r>
              <a:rPr lang="en-US" sz="1500" b="1" dirty="0">
                <a:solidFill>
                  <a:schemeClr val="tx1"/>
                </a:solidFill>
              </a:rPr>
              <a:t>Aydınlatılmış onam alındı</a:t>
            </a:r>
            <a:endParaRPr lang="en-US" sz="1500" dirty="0"/>
          </a:p>
        </p:txBody>
      </p:sp>
      <p:pic>
        <p:nvPicPr>
          <p:cNvPr id="12" name="Şekil 1F" descr="Makaledeki Şekil 1F">    </p:cNvPr>
          <p:cNvPicPr>
            <a:picLocks noChangeAspect="1"/>
          </p:cNvPicPr>
          <p:nvPr/>
        </p:nvPicPr>
        <p:blipFill>
          <a:blip r:embed="rId2"/>
          <a:stretch>
            <a:fillRect/>
          </a:stretch>
        </p:blipFill>
        <p:spPr>
          <a:xfrm>
            <a:off x="7333737" y="1371600"/>
            <a:ext cx="4260605" cy="4480560"/>
          </a:xfrm>
          <a:prstGeom prst="rect">
            <a:avLst/>
          </a:prstGeom>
          <a:effectLst>
            <a:outerShdw sx="100000" sy="100000" kx="0" ky="0" algn="bl" rotWithShape="0" blurRad="76200" dist="25400" dir="5400000">
              <a:srgbClr val="000000">
                <a:alpha val="18000"/>
              </a:srgbClr>
            </a:outerShdw>
          </a:effectLst>
        </p:spPr>
      </p:pic>
      <p:sp>
        <p:nvSpPr>
          <p:cNvPr id="13" name="Text 9"/>
          <p:cNvSpPr txBox="1"/>
          <p:nvPr/>
        </p:nvSpPr>
        <p:spPr>
          <a:xfrm>
            <a:off x="7315200" y="5943600"/>
            <a:ext cx="4297680" cy="292608"/>
          </a:xfrm>
          <a:prstGeom prst="rect">
            <a:avLst/>
          </a:prstGeom>
          <a:noFill/>
          <a:ln/>
        </p:spPr>
        <p:txBody>
          <a:bodyPr wrap="square" lIns="0" tIns="0" rIns="0" bIns="0" rtlCol="0" anchor="ctr"/>
          <a:lstStyle/>
          <a:p>
            <a:pPr algn="ctr" indent="0" marL="0">
              <a:buNone/>
            </a:pPr>
            <a:r>
              <a:rPr lang="en-US" sz="1100" i="1" dirty="0">
                <a:solidFill>
                  <a:schemeClr val="accent5"/>
                </a:solidFill>
              </a:rPr>
              <a:t>Posterior bölgede ağız açıklığının ölçümü (Şekil 1F)</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mj-lt" pitchFamily="34" charset="0"/>
                <a:ea typeface="+mj-lt" pitchFamily="34" charset="-122"/>
                <a:cs typeface="+mj-lt" pitchFamily="34" charset="-120"/>
              </a:rPr>
              <a:t>Dijital Planlama</a:t>
            </a:r>
            <a:endParaRPr lang="en-US" sz="3400" dirty="0"/>
          </a:p>
        </p:txBody>
      </p:sp>
      <p:sp>
        <p:nvSpPr>
          <p:cNvPr id="3" name="Text 1"/>
          <p:cNvSpPr txBox="1"/>
          <p:nvPr/>
        </p:nvSpPr>
        <p:spPr>
          <a:xfrm>
            <a:off x="548640" y="1371600"/>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4" name="Text 2"/>
          <p:cNvSpPr txBox="1"/>
          <p:nvPr/>
        </p:nvSpPr>
        <p:spPr>
          <a:xfrm>
            <a:off x="1188720" y="1325880"/>
            <a:ext cx="4023360" cy="960120"/>
          </a:xfrm>
          <a:prstGeom prst="rect">
            <a:avLst/>
          </a:prstGeom>
          <a:noFill/>
          <a:ln/>
        </p:spPr>
        <p:txBody>
          <a:bodyPr wrap="square" lIns="0" tIns="0" rIns="0" bIns="0" rtlCol="0" anchor="t"/>
          <a:lstStyle/>
          <a:p>
            <a:pPr indent="0" marL="0">
              <a:buNone/>
            </a:pPr>
            <a:r>
              <a:rPr lang="en-US" sz="1500" dirty="0">
                <a:solidFill>
                  <a:schemeClr val="tx1"/>
                </a:solidFill>
              </a:rPr>
              <a:t>Ağız içi tarama (STL) ve CBCT (DICOM) verileri DentalNavi yazılımına aktarıldı</a:t>
            </a:r>
            <a:endParaRPr lang="en-US" sz="1500" dirty="0"/>
          </a:p>
        </p:txBody>
      </p:sp>
      <p:sp>
        <p:nvSpPr>
          <p:cNvPr id="5" name="Text 3"/>
          <p:cNvSpPr txBox="1"/>
          <p:nvPr/>
        </p:nvSpPr>
        <p:spPr>
          <a:xfrm>
            <a:off x="548640" y="2468880"/>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6" name="Text 4"/>
          <p:cNvSpPr txBox="1"/>
          <p:nvPr/>
        </p:nvSpPr>
        <p:spPr>
          <a:xfrm>
            <a:off x="1188720" y="2423160"/>
            <a:ext cx="4023360" cy="960120"/>
          </a:xfrm>
          <a:prstGeom prst="rect">
            <a:avLst/>
          </a:prstGeom>
          <a:noFill/>
          <a:ln/>
        </p:spPr>
        <p:txBody>
          <a:bodyPr wrap="square" lIns="0" tIns="0" rIns="0" bIns="0" rtlCol="0" anchor="t"/>
          <a:lstStyle/>
          <a:p>
            <a:pPr indent="0" marL="0">
              <a:buNone/>
            </a:pPr>
            <a:r>
              <a:rPr lang="en-US" sz="1500" dirty="0">
                <a:solidFill>
                  <a:schemeClr val="tx1"/>
                </a:solidFill>
              </a:rPr>
              <a:t>Sanal yol: zirkonya kuronun oklüzal yüzeyinden fiber post–güta-perka birleşimine uzanan düz bir hat</a:t>
            </a:r>
            <a:endParaRPr lang="en-US" sz="1500" dirty="0"/>
          </a:p>
        </p:txBody>
      </p:sp>
      <p:sp>
        <p:nvSpPr>
          <p:cNvPr id="7" name="Text 5"/>
          <p:cNvSpPr txBox="1"/>
          <p:nvPr/>
        </p:nvSpPr>
        <p:spPr>
          <a:xfrm>
            <a:off x="548640" y="3566160"/>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8" name="Text 6"/>
          <p:cNvSpPr txBox="1"/>
          <p:nvPr/>
        </p:nvSpPr>
        <p:spPr>
          <a:xfrm>
            <a:off x="1188720" y="3520440"/>
            <a:ext cx="4023360" cy="960120"/>
          </a:xfrm>
          <a:prstGeom prst="rect">
            <a:avLst/>
          </a:prstGeom>
          <a:noFill/>
          <a:ln/>
        </p:spPr>
        <p:txBody>
          <a:bodyPr wrap="square" lIns="0" tIns="0" rIns="0" bIns="0" rtlCol="0" anchor="t"/>
          <a:lstStyle/>
          <a:p>
            <a:pPr indent="0" marL="0">
              <a:buNone/>
            </a:pPr>
            <a:r>
              <a:rPr lang="en-US" sz="1500" dirty="0">
                <a:solidFill>
                  <a:schemeClr val="tx1"/>
                </a:solidFill>
              </a:rPr>
              <a:t>Yol çapı 1,4 mm, uzunluğu 8,6 mm olarak tasarlandı</a:t>
            </a:r>
            <a:endParaRPr lang="en-US" sz="1500" dirty="0"/>
          </a:p>
        </p:txBody>
      </p:sp>
      <p:sp>
        <p:nvSpPr>
          <p:cNvPr id="9" name="Text 7"/>
          <p:cNvSpPr txBox="1"/>
          <p:nvPr/>
        </p:nvSpPr>
        <p:spPr>
          <a:xfrm>
            <a:off x="548640" y="4663440"/>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0" name="Text 8"/>
          <p:cNvSpPr txBox="1"/>
          <p:nvPr/>
        </p:nvSpPr>
        <p:spPr>
          <a:xfrm>
            <a:off x="1188720" y="4617720"/>
            <a:ext cx="4023360" cy="960120"/>
          </a:xfrm>
          <a:prstGeom prst="rect">
            <a:avLst/>
          </a:prstGeom>
          <a:noFill/>
          <a:ln/>
        </p:spPr>
        <p:txBody>
          <a:bodyPr wrap="square" lIns="0" tIns="0" rIns="0" bIns="0" rtlCol="0" anchor="t"/>
          <a:lstStyle/>
          <a:p>
            <a:pPr indent="0" marL="0">
              <a:buNone/>
            </a:pPr>
            <a:r>
              <a:rPr lang="en-US" sz="1500" dirty="0">
                <a:solidFill>
                  <a:schemeClr val="tx1"/>
                </a:solidFill>
              </a:rPr>
              <a:t>Kişiye özel sabitleme ve kayıt (registrasyon) aparatları tasarlanıp 3B yazıcıda üretildi</a:t>
            </a:r>
            <a:endParaRPr lang="en-US" sz="1500" dirty="0"/>
          </a:p>
        </p:txBody>
      </p:sp>
      <p:pic>
        <p:nvPicPr>
          <p:cNvPr id="11" name="Şekil 2A" descr="Makaledeki Şekil 2A">    </p:cNvPr>
          <p:cNvPicPr>
            <a:picLocks noChangeAspect="1"/>
          </p:cNvPicPr>
          <p:nvPr/>
        </p:nvPicPr>
        <p:blipFill>
          <a:blip r:embed="rId1"/>
          <a:stretch>
            <a:fillRect/>
          </a:stretch>
        </p:blipFill>
        <p:spPr>
          <a:xfrm>
            <a:off x="5486400" y="2454625"/>
            <a:ext cx="3611880" cy="2314509"/>
          </a:xfrm>
          <a:prstGeom prst="rect">
            <a:avLst/>
          </a:prstGeom>
          <a:effectLst>
            <a:outerShdw sx="100000" sy="100000" kx="0" ky="0" algn="bl" rotWithShape="0" blurRad="76200" dist="25400" dir="5400000">
              <a:srgbClr val="000000">
                <a:alpha val="18000"/>
              </a:srgbClr>
            </a:outerShdw>
          </a:effectLst>
        </p:spPr>
      </p:pic>
      <p:pic>
        <p:nvPicPr>
          <p:cNvPr id="12" name="Şekil 2B" descr="Makaledeki Şekil 2B">    </p:cNvPr>
          <p:cNvPicPr>
            <a:picLocks noChangeAspect="1"/>
          </p:cNvPicPr>
          <p:nvPr/>
        </p:nvPicPr>
        <p:blipFill>
          <a:blip r:embed="rId2"/>
          <a:stretch>
            <a:fillRect/>
          </a:stretch>
        </p:blipFill>
        <p:spPr>
          <a:xfrm>
            <a:off x="9235440" y="2555766"/>
            <a:ext cx="2377440" cy="2112228"/>
          </a:xfrm>
          <a:prstGeom prst="rect">
            <a:avLst/>
          </a:prstGeom>
          <a:effectLst>
            <a:outerShdw sx="100000" sy="100000" kx="0" ky="0" algn="bl" rotWithShape="0" blurRad="76200" dist="25400" dir="5400000">
              <a:srgbClr val="000000">
                <a:alpha val="18000"/>
              </a:srgbClr>
            </a:outerShdw>
          </a:effectLst>
        </p:spPr>
      </p:pic>
      <p:sp>
        <p:nvSpPr>
          <p:cNvPr id="13" name="Text 9"/>
          <p:cNvSpPr txBox="1"/>
          <p:nvPr/>
        </p:nvSpPr>
        <p:spPr>
          <a:xfrm>
            <a:off x="5486400" y="5943600"/>
            <a:ext cx="6126480" cy="292608"/>
          </a:xfrm>
          <a:prstGeom prst="rect">
            <a:avLst/>
          </a:prstGeom>
          <a:noFill/>
          <a:ln/>
        </p:spPr>
        <p:txBody>
          <a:bodyPr wrap="square" lIns="0" tIns="0" rIns="0" bIns="0" rtlCol="0" anchor="ctr"/>
          <a:lstStyle/>
          <a:p>
            <a:pPr algn="ctr" indent="0" marL="0">
              <a:buNone/>
            </a:pPr>
            <a:r>
              <a:rPr lang="en-US" sz="1100" i="1" dirty="0">
                <a:solidFill>
                  <a:schemeClr val="accent5"/>
                </a:solidFill>
              </a:rPr>
              <a:t>Sanal yol tasarımı (2A) ve kişiye özel aparatlar (2B)</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mj-lt" pitchFamily="34" charset="0"/>
                <a:ea typeface="+mj-lt" pitchFamily="34" charset="-122"/>
                <a:cs typeface="+mj-lt" pitchFamily="34" charset="-120"/>
              </a:rPr>
              <a:t>İki Aşamalı Frez Seçimi</a:t>
            </a:r>
            <a:endParaRPr lang="en-US" sz="3400" dirty="0"/>
          </a:p>
        </p:txBody>
      </p:sp>
      <p:sp>
        <p:nvSpPr>
          <p:cNvPr id="3" name="Shape 1"/>
          <p:cNvSpPr/>
          <p:nvPr/>
        </p:nvSpPr>
        <p:spPr>
          <a:xfrm>
            <a:off x="548640" y="1371600"/>
            <a:ext cx="5440680" cy="4800600"/>
          </a:xfrm>
          <a:prstGeom prst="roundRect">
            <a:avLst>
              <a:gd name="adj" fmla="val 2286"/>
            </a:avLst>
          </a:prstGeom>
          <a:solidFill>
            <a:schemeClr val="bg2"/>
          </a:solidFill>
          <a:ln/>
        </p:spPr>
      </p:sp>
      <p:sp>
        <p:nvSpPr>
          <p:cNvPr id="4" name="Text 2"/>
          <p:cNvSpPr txBox="1"/>
          <p:nvPr/>
        </p:nvSpPr>
        <p:spPr>
          <a:xfrm>
            <a:off x="822960" y="1600200"/>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3"/>
          <p:cNvSpPr txBox="1"/>
          <p:nvPr/>
        </p:nvSpPr>
        <p:spPr>
          <a:xfrm>
            <a:off x="1417320" y="1554480"/>
            <a:ext cx="4343400" cy="548640"/>
          </a:xfrm>
          <a:prstGeom prst="rect">
            <a:avLst/>
          </a:prstGeom>
          <a:noFill/>
          <a:ln/>
        </p:spPr>
        <p:txBody>
          <a:bodyPr wrap="square" lIns="0" tIns="0" rIns="0" bIns="0" rtlCol="0" anchor="ctr"/>
          <a:lstStyle/>
          <a:p>
            <a:pPr indent="0" marL="0">
              <a:buNone/>
            </a:pPr>
            <a:r>
              <a:rPr lang="en-US" sz="1800" b="1" dirty="0">
                <a:solidFill>
                  <a:schemeClr val="tx2"/>
                </a:solidFill>
              </a:rPr>
              <a:t>Yüksek devirli yuvarlak elmas frez</a:t>
            </a:r>
            <a:endParaRPr lang="en-US" sz="1800" dirty="0"/>
          </a:p>
        </p:txBody>
      </p:sp>
      <p:pic>
        <p:nvPicPr>
          <p:cNvPr id="6" name="Şekil 2C" descr="Makaledeki Şekil 2C">    </p:cNvPr>
          <p:cNvPicPr>
            <a:picLocks noChangeAspect="1"/>
          </p:cNvPicPr>
          <p:nvPr/>
        </p:nvPicPr>
        <p:blipFill>
          <a:blip r:embed="rId1"/>
          <a:stretch>
            <a:fillRect/>
          </a:stretch>
        </p:blipFill>
        <p:spPr>
          <a:xfrm>
            <a:off x="822960" y="2291001"/>
            <a:ext cx="1737360" cy="2687479"/>
          </a:xfrm>
          <a:prstGeom prst="rect">
            <a:avLst/>
          </a:prstGeom>
          <a:effectLst>
            <a:outerShdw sx="100000" sy="100000" kx="0" ky="0" algn="bl" rotWithShape="0" blurRad="76200" dist="25400" dir="5400000">
              <a:srgbClr val="000000">
                <a:alpha val="18000"/>
              </a:srgbClr>
            </a:outerShdw>
          </a:effectLst>
        </p:spPr>
      </p:pic>
      <p:pic>
        <p:nvPicPr>
          <p:cNvPr id="7" name="Şekil 2D" descr="Makaledeki Şekil 2D">    </p:cNvPr>
          <p:cNvPicPr>
            <a:picLocks noChangeAspect="1"/>
          </p:cNvPicPr>
          <p:nvPr/>
        </p:nvPicPr>
        <p:blipFill>
          <a:blip r:embed="rId2"/>
          <a:stretch>
            <a:fillRect/>
          </a:stretch>
        </p:blipFill>
        <p:spPr>
          <a:xfrm>
            <a:off x="3096068" y="2286000"/>
            <a:ext cx="2266065" cy="2697480"/>
          </a:xfrm>
          <a:prstGeom prst="rect">
            <a:avLst/>
          </a:prstGeom>
          <a:effectLst>
            <a:outerShdw sx="100000" sy="100000" kx="0" ky="0" algn="bl" rotWithShape="0" blurRad="76200" dist="25400" dir="5400000">
              <a:srgbClr val="000000">
                <a:alpha val="18000"/>
              </a:srgbClr>
            </a:outerShdw>
          </a:effectLst>
        </p:spPr>
      </p:pic>
      <p:sp>
        <p:nvSpPr>
          <p:cNvPr id="8" name="Text 4"/>
          <p:cNvSpPr txBox="1"/>
          <p:nvPr/>
        </p:nvSpPr>
        <p:spPr>
          <a:xfrm>
            <a:off x="822960" y="5166360"/>
            <a:ext cx="4892040" cy="822960"/>
          </a:xfrm>
          <a:prstGeom prst="rect">
            <a:avLst/>
          </a:prstGeom>
          <a:noFill/>
          <a:ln/>
        </p:spPr>
        <p:txBody>
          <a:bodyPr wrap="square" lIns="0" tIns="0" rIns="0" bIns="0" rtlCol="0" anchor="t"/>
          <a:lstStyle/>
          <a:p>
            <a:pPr indent="0" marL="0">
              <a:buNone/>
            </a:pPr>
            <a:r>
              <a:rPr lang="en-US" sz="1500" b="1" dirty="0">
                <a:solidFill>
                  <a:schemeClr val="tx1"/>
                </a:solidFill>
              </a:rPr>
              <a:t>Ø 1,4 mm · toplam boy 26 mm</a:t>
            </a:r>
            <a:endParaRPr lang="en-US" sz="1500" dirty="0"/>
          </a:p>
          <a:p>
            <a:pPr indent="0" marL="0">
              <a:buNone/>
            </a:pPr>
            <a:r>
              <a:rPr lang="en-US" sz="1500" dirty="0">
                <a:solidFill>
                  <a:schemeClr val="tx1"/>
                </a:solidFill>
              </a:rPr>
              <a:t>Zirkonyadan kuronal giriş · 4,3 mm derinlik</a:t>
            </a:r>
            <a:endParaRPr lang="en-US" sz="1500" dirty="0"/>
          </a:p>
        </p:txBody>
      </p:sp>
      <p:sp>
        <p:nvSpPr>
          <p:cNvPr id="9" name="Shape 5"/>
          <p:cNvSpPr/>
          <p:nvPr/>
        </p:nvSpPr>
        <p:spPr>
          <a:xfrm>
            <a:off x="6172200" y="1371600"/>
            <a:ext cx="5440680" cy="4800600"/>
          </a:xfrm>
          <a:prstGeom prst="roundRect">
            <a:avLst>
              <a:gd name="adj" fmla="val 2286"/>
            </a:avLst>
          </a:prstGeom>
          <a:solidFill>
            <a:schemeClr val="bg2"/>
          </a:solidFill>
          <a:ln/>
        </p:spPr>
      </p:sp>
      <p:sp>
        <p:nvSpPr>
          <p:cNvPr id="10" name="Text 6"/>
          <p:cNvSpPr txBox="1"/>
          <p:nvPr/>
        </p:nvSpPr>
        <p:spPr>
          <a:xfrm>
            <a:off x="6446520" y="1600200"/>
            <a:ext cx="457200" cy="45720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7"/>
          <p:cNvSpPr txBox="1"/>
          <p:nvPr/>
        </p:nvSpPr>
        <p:spPr>
          <a:xfrm>
            <a:off x="7040880" y="1554480"/>
            <a:ext cx="4343400" cy="548640"/>
          </a:xfrm>
          <a:prstGeom prst="rect">
            <a:avLst/>
          </a:prstGeom>
          <a:noFill/>
          <a:ln/>
        </p:spPr>
        <p:txBody>
          <a:bodyPr wrap="square" lIns="0" tIns="0" rIns="0" bIns="0" rtlCol="0" anchor="ctr"/>
          <a:lstStyle/>
          <a:p>
            <a:pPr indent="0" marL="0">
              <a:buNone/>
            </a:pPr>
            <a:r>
              <a:rPr lang="en-US" sz="1800" b="1" dirty="0">
                <a:solidFill>
                  <a:schemeClr val="tx2"/>
                </a:solidFill>
              </a:rPr>
              <a:t>Düşük devirli uzun boyunlu karbid frez</a:t>
            </a:r>
            <a:endParaRPr lang="en-US" sz="1800" dirty="0"/>
          </a:p>
        </p:txBody>
      </p:sp>
      <p:pic>
        <p:nvPicPr>
          <p:cNvPr id="12" name="Şekil 2E" descr="Makaledeki Şekil 2E">    </p:cNvPr>
          <p:cNvPicPr>
            <a:picLocks noChangeAspect="1"/>
          </p:cNvPicPr>
          <p:nvPr/>
        </p:nvPicPr>
        <p:blipFill>
          <a:blip r:embed="rId3"/>
          <a:stretch>
            <a:fillRect/>
          </a:stretch>
        </p:blipFill>
        <p:spPr>
          <a:xfrm>
            <a:off x="6446520" y="2354353"/>
            <a:ext cx="1737360" cy="2560774"/>
          </a:xfrm>
          <a:prstGeom prst="rect">
            <a:avLst/>
          </a:prstGeom>
          <a:effectLst>
            <a:outerShdw sx="100000" sy="100000" kx="0" ky="0" algn="bl" rotWithShape="0" blurRad="76200" dist="25400" dir="5400000">
              <a:srgbClr val="000000">
                <a:alpha val="18000"/>
              </a:srgbClr>
            </a:outerShdw>
          </a:effectLst>
        </p:spPr>
      </p:pic>
      <p:pic>
        <p:nvPicPr>
          <p:cNvPr id="13" name="Şekil 2F" descr="Makaledeki Şekil 2F">    </p:cNvPr>
          <p:cNvPicPr>
            <a:picLocks noChangeAspect="1"/>
          </p:cNvPicPr>
          <p:nvPr/>
        </p:nvPicPr>
        <p:blipFill>
          <a:blip r:embed="rId4"/>
          <a:stretch>
            <a:fillRect/>
          </a:stretch>
        </p:blipFill>
        <p:spPr>
          <a:xfrm>
            <a:off x="8762769" y="2286000"/>
            <a:ext cx="2179782" cy="2697480"/>
          </a:xfrm>
          <a:prstGeom prst="rect">
            <a:avLst/>
          </a:prstGeom>
          <a:effectLst>
            <a:outerShdw sx="100000" sy="100000" kx="0" ky="0" algn="bl" rotWithShape="0" blurRad="76200" dist="25400" dir="5400000">
              <a:srgbClr val="000000">
                <a:alpha val="18000"/>
              </a:srgbClr>
            </a:outerShdw>
          </a:effectLst>
        </p:spPr>
      </p:pic>
      <p:sp>
        <p:nvSpPr>
          <p:cNvPr id="14" name="Text 8"/>
          <p:cNvSpPr txBox="1"/>
          <p:nvPr/>
        </p:nvSpPr>
        <p:spPr>
          <a:xfrm>
            <a:off x="6446520" y="5166360"/>
            <a:ext cx="4892040" cy="822960"/>
          </a:xfrm>
          <a:prstGeom prst="rect">
            <a:avLst/>
          </a:prstGeom>
          <a:noFill/>
          <a:ln/>
        </p:spPr>
        <p:txBody>
          <a:bodyPr wrap="square" lIns="0" tIns="0" rIns="0" bIns="0" rtlCol="0" anchor="t"/>
          <a:lstStyle/>
          <a:p>
            <a:pPr indent="0" marL="0">
              <a:buNone/>
            </a:pPr>
            <a:r>
              <a:rPr lang="en-US" sz="1500" b="1" dirty="0">
                <a:solidFill>
                  <a:schemeClr val="tx1"/>
                </a:solidFill>
              </a:rPr>
              <a:t>Ø 1 mm · toplam boy 29 mm</a:t>
            </a:r>
            <a:endParaRPr lang="en-US" sz="1500" dirty="0"/>
          </a:p>
          <a:p>
            <a:pPr indent="0" marL="0">
              <a:buNone/>
            </a:pPr>
            <a:r>
              <a:rPr lang="en-US" sz="1500" dirty="0">
                <a:solidFill>
                  <a:schemeClr val="tx1"/>
                </a:solidFill>
              </a:rPr>
              <a:t>Fiber post sökümü · 8,6 mm derinlik</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mj-lt" pitchFamily="34" charset="0"/>
                <a:ea typeface="+mj-lt" pitchFamily="34" charset="-122"/>
                <a:cs typeface="+mj-lt" pitchFamily="34" charset="-120"/>
              </a:rPr>
              <a:t>Kalibrasyon ve Kayıt</a:t>
            </a:r>
            <a:endParaRPr lang="en-US" sz="3400" dirty="0"/>
          </a:p>
        </p:txBody>
      </p:sp>
      <p:sp>
        <p:nvSpPr>
          <p:cNvPr id="3" name="Text 1"/>
          <p:cNvSpPr txBox="1"/>
          <p:nvPr/>
        </p:nvSpPr>
        <p:spPr>
          <a:xfrm>
            <a:off x="548640" y="1371600"/>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4" name="Text 2"/>
          <p:cNvSpPr txBox="1"/>
          <p:nvPr/>
        </p:nvSpPr>
        <p:spPr>
          <a:xfrm>
            <a:off x="1188720" y="1353312"/>
            <a:ext cx="4114800" cy="411480"/>
          </a:xfrm>
          <a:prstGeom prst="rect">
            <a:avLst/>
          </a:prstGeom>
          <a:noFill/>
          <a:ln/>
        </p:spPr>
        <p:txBody>
          <a:bodyPr wrap="square" lIns="0" tIns="0" rIns="0" bIns="0" rtlCol="0" anchor="ctr"/>
          <a:lstStyle/>
          <a:p>
            <a:pPr indent="0" marL="0">
              <a:buNone/>
            </a:pPr>
            <a:r>
              <a:rPr lang="en-US" sz="1800" b="1" dirty="0">
                <a:solidFill>
                  <a:schemeClr val="tx2"/>
                </a:solidFill>
              </a:rPr>
              <a:t>Kalibrasyon</a:t>
            </a:r>
            <a:endParaRPr lang="en-US" sz="1800" dirty="0"/>
          </a:p>
        </p:txBody>
      </p:sp>
      <p:sp>
        <p:nvSpPr>
          <p:cNvPr id="5" name="Text 3"/>
          <p:cNvSpPr txBox="1"/>
          <p:nvPr/>
        </p:nvSpPr>
        <p:spPr>
          <a:xfrm>
            <a:off x="1188720" y="1783080"/>
            <a:ext cx="4114800" cy="960120"/>
          </a:xfrm>
          <a:prstGeom prst="rect">
            <a:avLst/>
          </a:prstGeom>
          <a:noFill/>
          <a:ln/>
        </p:spPr>
        <p:txBody>
          <a:bodyPr wrap="square" lIns="0" tIns="0" rIns="0" bIns="0" rtlCol="0" anchor="t"/>
          <a:lstStyle/>
          <a:p>
            <a:pPr indent="0" marL="0">
              <a:buNone/>
            </a:pPr>
            <a:r>
              <a:rPr lang="en-US" sz="1400" dirty="0">
                <a:solidFill>
                  <a:schemeClr val="tx1"/>
                </a:solidFill>
              </a:rPr>
              <a:t>Yüksek devirli başlık robot koluna takılır; işaretleyici ve kalibrasyon diskiyle otomatik kalibre edilir, prob 6 işaretçiye sırayla dokundurulur</a:t>
            </a:r>
            <a:endParaRPr lang="en-US" sz="1400" dirty="0"/>
          </a:p>
        </p:txBody>
      </p:sp>
      <p:sp>
        <p:nvSpPr>
          <p:cNvPr id="6" name="Text 4"/>
          <p:cNvSpPr txBox="1"/>
          <p:nvPr/>
        </p:nvSpPr>
        <p:spPr>
          <a:xfrm>
            <a:off x="548640" y="2834640"/>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7" name="Text 5"/>
          <p:cNvSpPr txBox="1"/>
          <p:nvPr/>
        </p:nvSpPr>
        <p:spPr>
          <a:xfrm>
            <a:off x="1188720" y="2816352"/>
            <a:ext cx="4114800" cy="411480"/>
          </a:xfrm>
          <a:prstGeom prst="rect">
            <a:avLst/>
          </a:prstGeom>
          <a:noFill/>
          <a:ln/>
        </p:spPr>
        <p:txBody>
          <a:bodyPr wrap="square" lIns="0" tIns="0" rIns="0" bIns="0" rtlCol="0" anchor="ctr"/>
          <a:lstStyle/>
          <a:p>
            <a:pPr indent="0" marL="0">
              <a:buNone/>
            </a:pPr>
            <a:r>
              <a:rPr lang="en-US" sz="1800" b="1" dirty="0">
                <a:solidFill>
                  <a:schemeClr val="tx2"/>
                </a:solidFill>
              </a:rPr>
              <a:t>İzolasyon</a:t>
            </a:r>
            <a:endParaRPr lang="en-US" sz="1800" dirty="0"/>
          </a:p>
        </p:txBody>
      </p:sp>
      <p:sp>
        <p:nvSpPr>
          <p:cNvPr id="8" name="Text 6"/>
          <p:cNvSpPr txBox="1"/>
          <p:nvPr/>
        </p:nvSpPr>
        <p:spPr>
          <a:xfrm>
            <a:off x="1188720" y="3246120"/>
            <a:ext cx="4114800" cy="960120"/>
          </a:xfrm>
          <a:prstGeom prst="rect">
            <a:avLst/>
          </a:prstGeom>
          <a:noFill/>
          <a:ln/>
        </p:spPr>
        <p:txBody>
          <a:bodyPr wrap="square" lIns="0" tIns="0" rIns="0" bIns="0" rtlCol="0" anchor="t"/>
          <a:lstStyle/>
          <a:p>
            <a:pPr indent="0" marL="0">
              <a:buNone/>
            </a:pPr>
            <a:r>
              <a:rPr lang="en-US" sz="1400" dirty="0">
                <a:solidFill>
                  <a:schemeClr val="tx1"/>
                </a:solidFill>
              </a:rPr>
              <a:t>Çalışma bölgesi rubber dam ile izole edilir</a:t>
            </a:r>
            <a:endParaRPr lang="en-US" sz="1400" dirty="0"/>
          </a:p>
        </p:txBody>
      </p:sp>
      <p:sp>
        <p:nvSpPr>
          <p:cNvPr id="9" name="Text 7"/>
          <p:cNvSpPr txBox="1"/>
          <p:nvPr/>
        </p:nvSpPr>
        <p:spPr>
          <a:xfrm>
            <a:off x="548640" y="4297680"/>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0" name="Text 8"/>
          <p:cNvSpPr txBox="1"/>
          <p:nvPr/>
        </p:nvSpPr>
        <p:spPr>
          <a:xfrm>
            <a:off x="1188720" y="4279392"/>
            <a:ext cx="4114800" cy="411480"/>
          </a:xfrm>
          <a:prstGeom prst="rect">
            <a:avLst/>
          </a:prstGeom>
          <a:noFill/>
          <a:ln/>
        </p:spPr>
        <p:txBody>
          <a:bodyPr wrap="square" lIns="0" tIns="0" rIns="0" bIns="0" rtlCol="0" anchor="ctr"/>
          <a:lstStyle/>
          <a:p>
            <a:pPr indent="0" marL="0">
              <a:buNone/>
            </a:pPr>
            <a:r>
              <a:rPr lang="en-US" sz="1800" b="1" dirty="0">
                <a:solidFill>
                  <a:schemeClr val="tx2"/>
                </a:solidFill>
              </a:rPr>
              <a:t>Kayıt</a:t>
            </a:r>
            <a:endParaRPr lang="en-US" sz="1800" dirty="0"/>
          </a:p>
        </p:txBody>
      </p:sp>
      <p:sp>
        <p:nvSpPr>
          <p:cNvPr id="11" name="Text 9"/>
          <p:cNvSpPr txBox="1"/>
          <p:nvPr/>
        </p:nvSpPr>
        <p:spPr>
          <a:xfrm>
            <a:off x="1188720" y="4709160"/>
            <a:ext cx="4114800" cy="960120"/>
          </a:xfrm>
          <a:prstGeom prst="rect">
            <a:avLst/>
          </a:prstGeom>
          <a:noFill/>
          <a:ln/>
        </p:spPr>
        <p:txBody>
          <a:bodyPr wrap="square" lIns="0" tIns="0" rIns="0" bIns="0" rtlCol="0" anchor="t"/>
          <a:lstStyle/>
          <a:p>
            <a:pPr indent="0" marL="0">
              <a:buNone/>
            </a:pPr>
            <a:r>
              <a:rPr lang="en-US" sz="1400" dirty="0">
                <a:solidFill>
                  <a:schemeClr val="tx1"/>
                </a:solidFill>
              </a:rPr>
              <a:t>Çene takip cihazlı sabitleme aparatı ön dişlere geçici materyalle tutturulur; prob, kayıt aparatındaki 8 deliğe sırayla temas ettirilir</a:t>
            </a:r>
            <a:endParaRPr lang="en-US" sz="1400" dirty="0"/>
          </a:p>
        </p:txBody>
      </p:sp>
      <p:sp>
        <p:nvSpPr>
          <p:cNvPr id="12" name="Text 10"/>
          <p:cNvSpPr txBox="1"/>
          <p:nvPr/>
        </p:nvSpPr>
        <p:spPr>
          <a:xfrm>
            <a:off x="548640" y="5715000"/>
            <a:ext cx="4754880" cy="457200"/>
          </a:xfrm>
          <a:prstGeom prst="rect">
            <a:avLst/>
          </a:prstGeom>
          <a:noFill/>
          <a:ln/>
        </p:spPr>
        <p:txBody>
          <a:bodyPr wrap="square" lIns="0" tIns="0" rIns="0" bIns="0" rtlCol="0" anchor="ctr"/>
          <a:lstStyle/>
          <a:p>
            <a:pPr indent="0" marL="0">
              <a:buNone/>
            </a:pPr>
            <a:r>
              <a:rPr lang="en-US" sz="1400" b="1" i="1" dirty="0">
                <a:solidFill>
                  <a:schemeClr val="accent1"/>
                </a:solidFill>
              </a:rPr>
              <a:t>Sonuç: Robot, aletin konumunu gerçek zamanlı izler ve ekranda gösterir</a:t>
            </a:r>
            <a:endParaRPr lang="en-US" sz="1400" dirty="0"/>
          </a:p>
        </p:txBody>
      </p:sp>
      <p:pic>
        <p:nvPicPr>
          <p:cNvPr id="13" name="Şekil 2G" descr="Makaledeki Şekil 2G">    </p:cNvPr>
          <p:cNvPicPr>
            <a:picLocks noChangeAspect="1"/>
          </p:cNvPicPr>
          <p:nvPr/>
        </p:nvPicPr>
        <p:blipFill>
          <a:blip r:embed="rId1"/>
          <a:stretch>
            <a:fillRect/>
          </a:stretch>
        </p:blipFill>
        <p:spPr>
          <a:xfrm>
            <a:off x="5669280" y="1486409"/>
            <a:ext cx="2926080" cy="1919222"/>
          </a:xfrm>
          <a:prstGeom prst="rect">
            <a:avLst/>
          </a:prstGeom>
          <a:effectLst>
            <a:outerShdw sx="100000" sy="100000" kx="0" ky="0" algn="bl" rotWithShape="0" blurRad="76200" dist="25400" dir="5400000">
              <a:srgbClr val="000000">
                <a:alpha val="18000"/>
              </a:srgbClr>
            </a:outerShdw>
          </a:effectLst>
        </p:spPr>
      </p:pic>
      <p:pic>
        <p:nvPicPr>
          <p:cNvPr id="14" name="Şekil 2H" descr="Makaledeki Şekil 2H">    </p:cNvPr>
          <p:cNvPicPr>
            <a:picLocks noChangeAspect="1"/>
          </p:cNvPicPr>
          <p:nvPr/>
        </p:nvPicPr>
        <p:blipFill>
          <a:blip r:embed="rId2"/>
          <a:stretch>
            <a:fillRect/>
          </a:stretch>
        </p:blipFill>
        <p:spPr>
          <a:xfrm>
            <a:off x="8686800" y="1487477"/>
            <a:ext cx="2926080" cy="1917087"/>
          </a:xfrm>
          <a:prstGeom prst="rect">
            <a:avLst/>
          </a:prstGeom>
          <a:effectLst>
            <a:outerShdw sx="100000" sy="100000" kx="0" ky="0" algn="bl" rotWithShape="0" blurRad="76200" dist="25400" dir="5400000">
              <a:srgbClr val="000000">
                <a:alpha val="18000"/>
              </a:srgbClr>
            </a:outerShdw>
          </a:effectLst>
        </p:spPr>
      </p:pic>
      <p:pic>
        <p:nvPicPr>
          <p:cNvPr id="15" name="Şekil 2I" descr="Makaledeki Şekil 2I">    </p:cNvPr>
          <p:cNvPicPr>
            <a:picLocks noChangeAspect="1"/>
          </p:cNvPicPr>
          <p:nvPr/>
        </p:nvPicPr>
        <p:blipFill>
          <a:blip r:embed="rId3"/>
          <a:stretch>
            <a:fillRect/>
          </a:stretch>
        </p:blipFill>
        <p:spPr>
          <a:xfrm>
            <a:off x="5669280" y="3762634"/>
            <a:ext cx="2926080" cy="1938772"/>
          </a:xfrm>
          <a:prstGeom prst="rect">
            <a:avLst/>
          </a:prstGeom>
          <a:effectLst>
            <a:outerShdw sx="100000" sy="100000" kx="0" ky="0" algn="bl" rotWithShape="0" blurRad="76200" dist="25400" dir="5400000">
              <a:srgbClr val="000000">
                <a:alpha val="18000"/>
              </a:srgbClr>
            </a:outerShdw>
          </a:effectLst>
        </p:spPr>
      </p:pic>
      <p:pic>
        <p:nvPicPr>
          <p:cNvPr id="16" name="Şekil 2J" descr="Makaledeki Şekil 2J">    </p:cNvPr>
          <p:cNvPicPr>
            <a:picLocks noChangeAspect="1"/>
          </p:cNvPicPr>
          <p:nvPr/>
        </p:nvPicPr>
        <p:blipFill>
          <a:blip r:embed="rId4"/>
          <a:stretch>
            <a:fillRect/>
          </a:stretch>
        </p:blipFill>
        <p:spPr>
          <a:xfrm>
            <a:off x="8686800" y="3763712"/>
            <a:ext cx="2926080" cy="1936616"/>
          </a:xfrm>
          <a:prstGeom prst="rect">
            <a:avLst/>
          </a:prstGeom>
          <a:effectLst>
            <a:outerShdw sx="100000" sy="100000" kx="0" ky="0" algn="bl" rotWithShape="0" blurRad="76200" dist="25400" dir="5400000">
              <a:srgbClr val="000000">
                <a:alpha val="18000"/>
              </a:srgbClr>
            </a:outerShdw>
          </a:effectLst>
        </p:spPr>
      </p:pic>
      <p:sp>
        <p:nvSpPr>
          <p:cNvPr id="17" name="Text 11"/>
          <p:cNvSpPr txBox="1"/>
          <p:nvPr/>
        </p:nvSpPr>
        <p:spPr>
          <a:xfrm>
            <a:off x="5669280" y="5897880"/>
            <a:ext cx="5943600" cy="292608"/>
          </a:xfrm>
          <a:prstGeom prst="rect">
            <a:avLst/>
          </a:prstGeom>
          <a:noFill/>
          <a:ln/>
        </p:spPr>
        <p:txBody>
          <a:bodyPr wrap="square" lIns="0" tIns="0" rIns="0" bIns="0" rtlCol="0" anchor="ctr"/>
          <a:lstStyle/>
          <a:p>
            <a:pPr algn="ctr" indent="0" marL="0">
              <a:buNone/>
            </a:pPr>
            <a:r>
              <a:rPr lang="en-US" sz="1100" i="1" dirty="0">
                <a:solidFill>
                  <a:schemeClr val="accent5"/>
                </a:solidFill>
              </a:rPr>
              <a:t>Kalibrasyon (2G–H), rubber dam izolasyonu (2I) ve kayıt (2J)</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mj-lt" pitchFamily="34" charset="0"/>
                <a:ea typeface="+mj-lt" pitchFamily="34" charset="-122"/>
                <a:cs typeface="+mj-lt" pitchFamily="34" charset="-120"/>
              </a:rPr>
              <a:t>Robot Destekli Kuronal Giriş</a:t>
            </a:r>
            <a:endParaRPr lang="en-US" sz="3400" dirty="0"/>
          </a:p>
        </p:txBody>
      </p:sp>
      <p:pic>
        <p:nvPicPr>
          <p:cNvPr id="3" name="Şekil 3A" descr="Makaledeki Şekil 3A">    </p:cNvPr>
          <p:cNvPicPr>
            <a:picLocks noChangeAspect="1"/>
          </p:cNvPicPr>
          <p:nvPr/>
        </p:nvPicPr>
        <p:blipFill>
          <a:blip r:embed="rId1"/>
          <a:stretch>
            <a:fillRect/>
          </a:stretch>
        </p:blipFill>
        <p:spPr>
          <a:xfrm>
            <a:off x="548640" y="1405139"/>
            <a:ext cx="4206240" cy="3041883"/>
          </a:xfrm>
          <a:prstGeom prst="rect">
            <a:avLst/>
          </a:prstGeom>
          <a:effectLst>
            <a:outerShdw sx="100000" sy="100000" kx="0" ky="0" algn="bl" rotWithShape="0" blurRad="76200" dist="25400" dir="5400000">
              <a:srgbClr val="000000">
                <a:alpha val="18000"/>
              </a:srgbClr>
            </a:outerShdw>
          </a:effectLst>
        </p:spPr>
      </p:pic>
      <p:pic>
        <p:nvPicPr>
          <p:cNvPr id="4" name="Şekil 3B" descr="Makaledeki Şekil 3B">    </p:cNvPr>
          <p:cNvPicPr>
            <a:picLocks noChangeAspect="1"/>
          </p:cNvPicPr>
          <p:nvPr/>
        </p:nvPicPr>
        <p:blipFill>
          <a:blip r:embed="rId2"/>
          <a:stretch>
            <a:fillRect/>
          </a:stretch>
        </p:blipFill>
        <p:spPr>
          <a:xfrm>
            <a:off x="4892040" y="1410066"/>
            <a:ext cx="3017520" cy="3032027"/>
          </a:xfrm>
          <a:prstGeom prst="rect">
            <a:avLst/>
          </a:prstGeom>
          <a:effectLst>
            <a:outerShdw sx="100000" sy="100000" kx="0" ky="0" algn="bl" rotWithShape="0" blurRad="76200" dist="25400" dir="5400000">
              <a:srgbClr val="000000">
                <a:alpha val="18000"/>
              </a:srgbClr>
            </a:outerShdw>
          </a:effectLst>
        </p:spPr>
      </p:pic>
      <p:sp>
        <p:nvSpPr>
          <p:cNvPr id="5" name="Text 1"/>
          <p:cNvSpPr txBox="1"/>
          <p:nvPr/>
        </p:nvSpPr>
        <p:spPr>
          <a:xfrm>
            <a:off x="548640" y="4572000"/>
            <a:ext cx="7360920" cy="292608"/>
          </a:xfrm>
          <a:prstGeom prst="rect">
            <a:avLst/>
          </a:prstGeom>
          <a:noFill/>
          <a:ln/>
        </p:spPr>
        <p:txBody>
          <a:bodyPr wrap="square" lIns="0" tIns="0" rIns="0" bIns="0" rtlCol="0" anchor="ctr"/>
          <a:lstStyle/>
          <a:p>
            <a:pPr algn="ctr" indent="0" marL="0">
              <a:buNone/>
            </a:pPr>
            <a:r>
              <a:rPr lang="en-US" sz="1100" i="1" dirty="0">
                <a:solidFill>
                  <a:schemeClr val="accent5"/>
                </a:solidFill>
              </a:rPr>
              <a:t>Robot kolu ile giriş (3A) ve mikroskopta giriş kavitesi (3B)</a:t>
            </a:r>
            <a:endParaRPr lang="en-US" sz="1100" dirty="0"/>
          </a:p>
        </p:txBody>
      </p:sp>
      <p:sp>
        <p:nvSpPr>
          <p:cNvPr id="6" name="Shape 2"/>
          <p:cNvSpPr/>
          <p:nvPr/>
        </p:nvSpPr>
        <p:spPr>
          <a:xfrm>
            <a:off x="8229600" y="1371600"/>
            <a:ext cx="3383280" cy="1920240"/>
          </a:xfrm>
          <a:prstGeom prst="roundRect">
            <a:avLst>
              <a:gd name="adj" fmla="val 5714"/>
            </a:avLst>
          </a:prstGeom>
          <a:solidFill>
            <a:schemeClr val="tx2"/>
          </a:solidFill>
          <a:ln/>
        </p:spPr>
      </p:sp>
      <p:sp>
        <p:nvSpPr>
          <p:cNvPr id="7" name="Text 3"/>
          <p:cNvSpPr txBox="1"/>
          <p:nvPr/>
        </p:nvSpPr>
        <p:spPr>
          <a:xfrm>
            <a:off x="8503920" y="1508760"/>
            <a:ext cx="2834640" cy="822960"/>
          </a:xfrm>
          <a:prstGeom prst="rect">
            <a:avLst/>
          </a:prstGeom>
          <a:noFill/>
          <a:ln/>
        </p:spPr>
        <p:txBody>
          <a:bodyPr wrap="square" lIns="0" tIns="0" rIns="0" bIns="0" rtlCol="0" anchor="ctr"/>
          <a:lstStyle/>
          <a:p>
            <a:pPr indent="0" marL="0">
              <a:buNone/>
            </a:pPr>
            <a:r>
              <a:rPr lang="en-US" sz="4800" b="1" dirty="0">
                <a:solidFill>
                  <a:schemeClr val="accent6"/>
                </a:solidFill>
                <a:latin typeface="+mj-lt" pitchFamily="34" charset="0"/>
                <a:ea typeface="+mj-lt" pitchFamily="34" charset="-122"/>
                <a:cs typeface="+mj-lt" pitchFamily="34" charset="-120"/>
              </a:rPr>
              <a:t>10 N</a:t>
            </a:r>
            <a:endParaRPr lang="en-US" sz="4800" dirty="0"/>
          </a:p>
        </p:txBody>
      </p:sp>
      <p:sp>
        <p:nvSpPr>
          <p:cNvPr id="8" name="Text 4"/>
          <p:cNvSpPr txBox="1"/>
          <p:nvPr/>
        </p:nvSpPr>
        <p:spPr>
          <a:xfrm>
            <a:off x="8503920" y="2331720"/>
            <a:ext cx="2834640" cy="822960"/>
          </a:xfrm>
          <a:prstGeom prst="rect">
            <a:avLst/>
          </a:prstGeom>
          <a:noFill/>
          <a:ln/>
        </p:spPr>
        <p:txBody>
          <a:bodyPr wrap="square" lIns="0" tIns="0" rIns="0" bIns="0" rtlCol="0" anchor="t"/>
          <a:lstStyle/>
          <a:p>
            <a:pPr indent="0" marL="0">
              <a:buNone/>
            </a:pPr>
            <a:r>
              <a:rPr lang="en-US" sz="1400" dirty="0">
                <a:solidFill>
                  <a:schemeClr val="bg1"/>
                </a:solidFill>
              </a:rPr>
              <a:t>kuvvet eşiği – kol bu değerde geri çekilip yeniden ilerler</a:t>
            </a:r>
            <a:endParaRPr lang="en-US" sz="1400" dirty="0"/>
          </a:p>
        </p:txBody>
      </p:sp>
      <p:sp>
        <p:nvSpPr>
          <p:cNvPr id="9" name="Text 5"/>
          <p:cNvSpPr txBox="1"/>
          <p:nvPr/>
        </p:nvSpPr>
        <p:spPr>
          <a:xfrm>
            <a:off x="548640" y="4983480"/>
            <a:ext cx="11064240" cy="128016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Frez önce elle diş yüzeyine değdirilerek doğruluk kontrol edildi</a:t>
            </a:r>
            <a:endParaRPr lang="en-US" sz="1500" dirty="0"/>
          </a:p>
          <a:p>
            <a:pPr marL="203200" indent="-203200">
              <a:spcAft>
                <a:spcPts val="800"/>
              </a:spcAft>
              <a:buSzPct val="100000"/>
              <a:buChar char="•"/>
            </a:pPr>
            <a:r>
              <a:rPr lang="en-US" sz="1500" dirty="0">
                <a:solidFill>
                  <a:schemeClr val="tx1"/>
                </a:solidFill>
              </a:rPr>
              <a:t>Pedala basınca frez giriş noktasına otomatik hizalandı ve planlanan yolda it-çek (pompalama) hareketiyle ilerledi</a:t>
            </a:r>
            <a:endParaRPr lang="en-US" sz="1500" dirty="0"/>
          </a:p>
          <a:p>
            <a:pPr marL="203200" indent="-203200">
              <a:spcAft>
                <a:spcPts val="800"/>
              </a:spcAft>
              <a:buSzPct val="100000"/>
              <a:buChar char="•"/>
            </a:pPr>
            <a:r>
              <a:rPr lang="en-US" sz="1500" dirty="0">
                <a:solidFill>
                  <a:schemeClr val="tx1"/>
                </a:solidFill>
              </a:rPr>
              <a:t>Hedef derinliğe ulaşınca frez kendiliğinden geri çekildi</a:t>
            </a:r>
            <a:endParaRPr lang="en-US" sz="1500" dirty="0"/>
          </a:p>
        </p:txBody>
      </p:sp>
      <p:sp>
        <p:nvSpPr>
          <p:cNvPr id="10" name="Text 6"/>
          <p:cNvSpPr txBox="1"/>
          <p:nvPr/>
        </p:nvSpPr>
        <p:spPr>
          <a:xfrm>
            <a:off x="8229600" y="3474720"/>
            <a:ext cx="3383280" cy="1097280"/>
          </a:xfrm>
          <a:prstGeom prst="rect">
            <a:avLst/>
          </a:prstGeom>
          <a:noFill/>
          <a:ln/>
        </p:spPr>
        <p:txBody>
          <a:bodyPr wrap="square" lIns="0" tIns="0" rIns="0" bIns="0" rtlCol="0" anchor="t"/>
          <a:lstStyle/>
          <a:p>
            <a:pPr indent="0" marL="0">
              <a:buNone/>
            </a:pPr>
            <a:r>
              <a:rPr lang="en-US" sz="1400" i="1" dirty="0">
                <a:solidFill>
                  <a:schemeClr val="accent1"/>
                </a:solidFill>
              </a:rPr>
              <a:t>Hekimin sert zirkonyada aralıklı manuel delme alışkanlığı taklit edilir</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mj-lt" pitchFamily="34" charset="0"/>
                <a:ea typeface="+mj-lt" pitchFamily="34" charset="-122"/>
                <a:cs typeface="+mj-lt" pitchFamily="34" charset="-120"/>
              </a:rPr>
              <a:t>Robot Destekli Fiber Post Sökümü</a:t>
            </a:r>
            <a:endParaRPr lang="en-US" sz="3400" dirty="0"/>
          </a:p>
        </p:txBody>
      </p:sp>
      <p:pic>
        <p:nvPicPr>
          <p:cNvPr id="3" name="Şekil 3C" descr="Makaledeki Şekil 3C">    </p:cNvPr>
          <p:cNvPicPr>
            <a:picLocks noChangeAspect="1"/>
          </p:cNvPicPr>
          <p:nvPr/>
        </p:nvPicPr>
        <p:blipFill>
          <a:blip r:embed="rId1"/>
          <a:stretch>
            <a:fillRect/>
          </a:stretch>
        </p:blipFill>
        <p:spPr>
          <a:xfrm>
            <a:off x="548640" y="1372073"/>
            <a:ext cx="3931920" cy="2833694"/>
          </a:xfrm>
          <a:prstGeom prst="rect">
            <a:avLst/>
          </a:prstGeom>
          <a:effectLst>
            <a:outerShdw sx="100000" sy="100000" kx="0" ky="0" algn="bl" rotWithShape="0" blurRad="76200" dist="25400" dir="5400000">
              <a:srgbClr val="000000">
                <a:alpha val="18000"/>
              </a:srgbClr>
            </a:outerShdw>
          </a:effectLst>
        </p:spPr>
      </p:pic>
      <p:pic>
        <p:nvPicPr>
          <p:cNvPr id="4" name="Şekil 3D" descr="Makaledeki Şekil 3D">    </p:cNvPr>
          <p:cNvPicPr>
            <a:picLocks noChangeAspect="1"/>
          </p:cNvPicPr>
          <p:nvPr/>
        </p:nvPicPr>
        <p:blipFill>
          <a:blip r:embed="rId2"/>
          <a:stretch>
            <a:fillRect/>
          </a:stretch>
        </p:blipFill>
        <p:spPr>
          <a:xfrm>
            <a:off x="4631283" y="1371600"/>
            <a:ext cx="2807514" cy="2834640"/>
          </a:xfrm>
          <a:prstGeom prst="rect">
            <a:avLst/>
          </a:prstGeom>
          <a:effectLst>
            <a:outerShdw sx="100000" sy="100000" kx="0" ky="0" algn="bl" rotWithShape="0" blurRad="76200" dist="25400" dir="5400000">
              <a:srgbClr val="000000">
                <a:alpha val="18000"/>
              </a:srgbClr>
            </a:outerShdw>
          </a:effectLst>
        </p:spPr>
      </p:pic>
      <p:pic>
        <p:nvPicPr>
          <p:cNvPr id="5" name="Şekil 3E" descr="Makaledeki Şekil 3E">    </p:cNvPr>
          <p:cNvPicPr>
            <a:picLocks noChangeAspect="1"/>
          </p:cNvPicPr>
          <p:nvPr/>
        </p:nvPicPr>
        <p:blipFill>
          <a:blip r:embed="rId3"/>
          <a:stretch>
            <a:fillRect/>
          </a:stretch>
        </p:blipFill>
        <p:spPr>
          <a:xfrm>
            <a:off x="7589520" y="1382017"/>
            <a:ext cx="3017520" cy="2813806"/>
          </a:xfrm>
          <a:prstGeom prst="rect">
            <a:avLst/>
          </a:prstGeom>
          <a:effectLst>
            <a:outerShdw sx="100000" sy="100000" kx="0" ky="0" algn="bl" rotWithShape="0" blurRad="76200" dist="25400" dir="5400000">
              <a:srgbClr val="000000">
                <a:alpha val="18000"/>
              </a:srgbClr>
            </a:outerShdw>
          </a:effectLst>
        </p:spPr>
      </p:pic>
      <p:sp>
        <p:nvSpPr>
          <p:cNvPr id="6" name="Text 1"/>
          <p:cNvSpPr txBox="1"/>
          <p:nvPr/>
        </p:nvSpPr>
        <p:spPr>
          <a:xfrm>
            <a:off x="548640" y="4297680"/>
            <a:ext cx="10058400" cy="292608"/>
          </a:xfrm>
          <a:prstGeom prst="rect">
            <a:avLst/>
          </a:prstGeom>
          <a:noFill/>
          <a:ln/>
        </p:spPr>
        <p:txBody>
          <a:bodyPr wrap="square" lIns="0" tIns="0" rIns="0" bIns="0" rtlCol="0" anchor="ctr"/>
          <a:lstStyle/>
          <a:p>
            <a:pPr algn="ctr" indent="0" marL="0">
              <a:buNone/>
            </a:pPr>
            <a:r>
              <a:rPr lang="en-US" sz="1100" i="1" dirty="0">
                <a:solidFill>
                  <a:schemeClr val="accent5"/>
                </a:solidFill>
              </a:rPr>
              <a:t>Post sökümü (3C), söküm sonrası (3D) ve kalan materyalin temizlenmesi (3E)</a:t>
            </a:r>
            <a:endParaRPr lang="en-US" sz="1100" dirty="0"/>
          </a:p>
        </p:txBody>
      </p:sp>
      <p:sp>
        <p:nvSpPr>
          <p:cNvPr id="7" name="Text 2"/>
          <p:cNvSpPr txBox="1"/>
          <p:nvPr/>
        </p:nvSpPr>
        <p:spPr>
          <a:xfrm>
            <a:off x="548640" y="4754880"/>
            <a:ext cx="2606040" cy="685800"/>
          </a:xfrm>
          <a:prstGeom prst="rect">
            <a:avLst/>
          </a:prstGeom>
          <a:noFill/>
          <a:ln/>
        </p:spPr>
        <p:txBody>
          <a:bodyPr wrap="square" lIns="0" tIns="0" rIns="0" bIns="0" rtlCol="0" anchor="ctr"/>
          <a:lstStyle/>
          <a:p>
            <a:pPr indent="0" marL="0">
              <a:buNone/>
            </a:pPr>
            <a:r>
              <a:rPr lang="en-US" sz="4000" b="1" dirty="0">
                <a:solidFill>
                  <a:schemeClr val="accent1"/>
                </a:solidFill>
                <a:latin typeface="+mj-lt" pitchFamily="34" charset="0"/>
                <a:ea typeface="+mj-lt" pitchFamily="34" charset="-122"/>
                <a:cs typeface="+mj-lt" pitchFamily="34" charset="-120"/>
              </a:rPr>
              <a:t>2000 rpm</a:t>
            </a:r>
            <a:endParaRPr lang="en-US" sz="4000" dirty="0"/>
          </a:p>
        </p:txBody>
      </p:sp>
      <p:sp>
        <p:nvSpPr>
          <p:cNvPr id="8" name="Text 3"/>
          <p:cNvSpPr txBox="1"/>
          <p:nvPr/>
        </p:nvSpPr>
        <p:spPr>
          <a:xfrm>
            <a:off x="548640" y="5440680"/>
            <a:ext cx="2606040" cy="502920"/>
          </a:xfrm>
          <a:prstGeom prst="rect">
            <a:avLst/>
          </a:prstGeom>
          <a:noFill/>
          <a:ln/>
        </p:spPr>
        <p:txBody>
          <a:bodyPr wrap="square" lIns="0" tIns="0" rIns="0" bIns="0" rtlCol="0" anchor="t"/>
          <a:lstStyle/>
          <a:p>
            <a:pPr indent="0" marL="0">
              <a:buNone/>
            </a:pPr>
            <a:r>
              <a:rPr lang="en-US" sz="1400" dirty="0">
                <a:solidFill>
                  <a:schemeClr val="tx1"/>
                </a:solidFill>
              </a:rPr>
              <a:t>elektrikli implant başlığı ile delme</a:t>
            </a:r>
            <a:endParaRPr lang="en-US" sz="1400" dirty="0"/>
          </a:p>
        </p:txBody>
      </p:sp>
      <p:sp>
        <p:nvSpPr>
          <p:cNvPr id="9" name="Text 4"/>
          <p:cNvSpPr txBox="1"/>
          <p:nvPr/>
        </p:nvSpPr>
        <p:spPr>
          <a:xfrm>
            <a:off x="3383280" y="4754880"/>
            <a:ext cx="2606040" cy="685800"/>
          </a:xfrm>
          <a:prstGeom prst="rect">
            <a:avLst/>
          </a:prstGeom>
          <a:noFill/>
          <a:ln/>
        </p:spPr>
        <p:txBody>
          <a:bodyPr wrap="square" lIns="0" tIns="0" rIns="0" bIns="0" rtlCol="0" anchor="ctr"/>
          <a:lstStyle/>
          <a:p>
            <a:pPr indent="0" marL="0">
              <a:buNone/>
            </a:pPr>
            <a:r>
              <a:rPr lang="en-US" sz="4000" b="1" dirty="0">
                <a:solidFill>
                  <a:schemeClr val="accent2"/>
                </a:solidFill>
                <a:latin typeface="+mj-lt" pitchFamily="34" charset="0"/>
                <a:ea typeface="+mj-lt" pitchFamily="34" charset="-122"/>
                <a:cs typeface="+mj-lt" pitchFamily="34" charset="-120"/>
              </a:rPr>
              <a:t>1 mm</a:t>
            </a:r>
            <a:endParaRPr lang="en-US" sz="4000" dirty="0"/>
          </a:p>
        </p:txBody>
      </p:sp>
      <p:sp>
        <p:nvSpPr>
          <p:cNvPr id="10" name="Text 5"/>
          <p:cNvSpPr txBox="1"/>
          <p:nvPr/>
        </p:nvSpPr>
        <p:spPr>
          <a:xfrm>
            <a:off x="3383280" y="5440680"/>
            <a:ext cx="2606040" cy="502920"/>
          </a:xfrm>
          <a:prstGeom prst="rect">
            <a:avLst/>
          </a:prstGeom>
          <a:noFill/>
          <a:ln/>
        </p:spPr>
        <p:txBody>
          <a:bodyPr wrap="square" lIns="0" tIns="0" rIns="0" bIns="0" rtlCol="0" anchor="t"/>
          <a:lstStyle/>
          <a:p>
            <a:pPr indent="0" marL="0">
              <a:buNone/>
            </a:pPr>
            <a:r>
              <a:rPr lang="en-US" sz="1400" dirty="0">
                <a:solidFill>
                  <a:schemeClr val="tx1"/>
                </a:solidFill>
              </a:rPr>
              <a:t>mesafe eşiğiyle it-çek hareketi</a:t>
            </a:r>
            <a:endParaRPr lang="en-US" sz="1400" dirty="0"/>
          </a:p>
        </p:txBody>
      </p:sp>
      <p:sp>
        <p:nvSpPr>
          <p:cNvPr id="11" name="Text 6"/>
          <p:cNvSpPr txBox="1"/>
          <p:nvPr/>
        </p:nvSpPr>
        <p:spPr>
          <a:xfrm>
            <a:off x="6217920" y="4754880"/>
            <a:ext cx="2606040" cy="685800"/>
          </a:xfrm>
          <a:prstGeom prst="rect">
            <a:avLst/>
          </a:prstGeom>
          <a:noFill/>
          <a:ln/>
        </p:spPr>
        <p:txBody>
          <a:bodyPr wrap="square" lIns="0" tIns="0" rIns="0" bIns="0" rtlCol="0" anchor="ctr"/>
          <a:lstStyle/>
          <a:p>
            <a:pPr indent="0" marL="0">
              <a:buNone/>
            </a:pPr>
            <a:r>
              <a:rPr lang="en-US" sz="4000" b="1" dirty="0">
                <a:solidFill>
                  <a:schemeClr val="accent1"/>
                </a:solidFill>
                <a:latin typeface="+mj-lt" pitchFamily="34" charset="0"/>
                <a:ea typeface="+mj-lt" pitchFamily="34" charset="-122"/>
                <a:cs typeface="+mj-lt" pitchFamily="34" charset="-120"/>
              </a:rPr>
              <a:t>~2 mm</a:t>
            </a:r>
            <a:endParaRPr lang="en-US" sz="4000" dirty="0"/>
          </a:p>
        </p:txBody>
      </p:sp>
      <p:sp>
        <p:nvSpPr>
          <p:cNvPr id="12" name="Text 7"/>
          <p:cNvSpPr txBox="1"/>
          <p:nvPr/>
        </p:nvSpPr>
        <p:spPr>
          <a:xfrm>
            <a:off x="6217920" y="5440680"/>
            <a:ext cx="2606040" cy="502920"/>
          </a:xfrm>
          <a:prstGeom prst="rect">
            <a:avLst/>
          </a:prstGeom>
          <a:noFill/>
          <a:ln/>
        </p:spPr>
        <p:txBody>
          <a:bodyPr wrap="square" lIns="0" tIns="0" rIns="0" bIns="0" rtlCol="0" anchor="t"/>
          <a:lstStyle/>
          <a:p>
            <a:pPr indent="0" marL="0">
              <a:buNone/>
            </a:pPr>
            <a:r>
              <a:rPr lang="en-US" sz="1400" dirty="0">
                <a:solidFill>
                  <a:schemeClr val="tx1"/>
                </a:solidFill>
              </a:rPr>
              <a:t>ilerlemede bir serum fizyolojik irrigasyonu</a:t>
            </a:r>
            <a:endParaRPr lang="en-US" sz="1400" dirty="0"/>
          </a:p>
        </p:txBody>
      </p:sp>
      <p:sp>
        <p:nvSpPr>
          <p:cNvPr id="13" name="Text 8"/>
          <p:cNvSpPr txBox="1"/>
          <p:nvPr/>
        </p:nvSpPr>
        <p:spPr>
          <a:xfrm>
            <a:off x="9052560" y="4754880"/>
            <a:ext cx="2606040" cy="685800"/>
          </a:xfrm>
          <a:prstGeom prst="rect">
            <a:avLst/>
          </a:prstGeom>
          <a:noFill/>
          <a:ln/>
        </p:spPr>
        <p:txBody>
          <a:bodyPr wrap="square" lIns="0" tIns="0" rIns="0" bIns="0" rtlCol="0" anchor="ctr"/>
          <a:lstStyle/>
          <a:p>
            <a:pPr indent="0" marL="0">
              <a:buNone/>
            </a:pPr>
            <a:r>
              <a:rPr lang="en-US" sz="4000" b="1" dirty="0">
                <a:solidFill>
                  <a:schemeClr val="accent2"/>
                </a:solidFill>
                <a:latin typeface="+mj-lt" pitchFamily="34" charset="0"/>
                <a:ea typeface="+mj-lt" pitchFamily="34" charset="-122"/>
                <a:cs typeface="+mj-lt" pitchFamily="34" charset="-120"/>
              </a:rPr>
              <a:t>8,6 mm</a:t>
            </a:r>
            <a:endParaRPr lang="en-US" sz="4000" dirty="0"/>
          </a:p>
        </p:txBody>
      </p:sp>
      <p:sp>
        <p:nvSpPr>
          <p:cNvPr id="14" name="Text 9"/>
          <p:cNvSpPr txBox="1"/>
          <p:nvPr/>
        </p:nvSpPr>
        <p:spPr>
          <a:xfrm>
            <a:off x="9052560" y="5440680"/>
            <a:ext cx="2606040" cy="502920"/>
          </a:xfrm>
          <a:prstGeom prst="rect">
            <a:avLst/>
          </a:prstGeom>
          <a:noFill/>
          <a:ln/>
        </p:spPr>
        <p:txBody>
          <a:bodyPr wrap="square" lIns="0" tIns="0" rIns="0" bIns="0" rtlCol="0" anchor="t"/>
          <a:lstStyle/>
          <a:p>
            <a:pPr indent="0" marL="0">
              <a:buNone/>
            </a:pPr>
            <a:r>
              <a:rPr lang="en-US" sz="1400" dirty="0">
                <a:solidFill>
                  <a:schemeClr val="tx1"/>
                </a:solidFill>
              </a:rPr>
              <a:t>hedef derinlikte otomatik geri çekilme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mj-lt" pitchFamily="34" charset="0"/>
                <a:ea typeface="+mj-lt" pitchFamily="34" charset="-122"/>
                <a:cs typeface="+mj-lt" pitchFamily="34" charset="-120"/>
              </a:rPr>
              <a:t>Kanal Tedavisi ve Restorasyon</a:t>
            </a:r>
            <a:endParaRPr lang="en-US" sz="3400" dirty="0"/>
          </a:p>
        </p:txBody>
      </p:sp>
      <p:sp>
        <p:nvSpPr>
          <p:cNvPr id="3" name="Shape 1"/>
          <p:cNvSpPr/>
          <p:nvPr/>
        </p:nvSpPr>
        <p:spPr>
          <a:xfrm>
            <a:off x="777240" y="1691640"/>
            <a:ext cx="10607040" cy="0"/>
          </a:xfrm>
          <a:prstGeom prst="line">
            <a:avLst/>
          </a:prstGeom>
          <a:noFill/>
          <a:ln w="25400">
            <a:solidFill>
              <a:schemeClr val="accent3"/>
            </a:solidFill>
            <a:prstDash val="solid"/>
          </a:ln>
        </p:spPr>
      </p:sp>
      <p:sp>
        <p:nvSpPr>
          <p:cNvPr id="4" name="Text 2"/>
          <p:cNvSpPr txBox="1"/>
          <p:nvPr/>
        </p:nvSpPr>
        <p:spPr>
          <a:xfrm>
            <a:off x="548640" y="1463040"/>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3"/>
          <p:cNvSpPr txBox="1"/>
          <p:nvPr/>
        </p:nvSpPr>
        <p:spPr>
          <a:xfrm>
            <a:off x="548640" y="2011680"/>
            <a:ext cx="2103120" cy="365760"/>
          </a:xfrm>
          <a:prstGeom prst="rect">
            <a:avLst/>
          </a:prstGeom>
          <a:noFill/>
          <a:ln/>
        </p:spPr>
        <p:txBody>
          <a:bodyPr wrap="square" lIns="0" tIns="0" rIns="0" bIns="0" rtlCol="0" anchor="ctr"/>
          <a:lstStyle/>
          <a:p>
            <a:pPr indent="0" marL="0">
              <a:buNone/>
            </a:pPr>
            <a:r>
              <a:rPr lang="en-US" sz="1600" b="1" dirty="0">
                <a:solidFill>
                  <a:schemeClr val="tx2"/>
                </a:solidFill>
              </a:rPr>
              <a:t>Temizlik</a:t>
            </a:r>
            <a:endParaRPr lang="en-US" sz="1600" dirty="0"/>
          </a:p>
        </p:txBody>
      </p:sp>
      <p:sp>
        <p:nvSpPr>
          <p:cNvPr id="6" name="Text 4"/>
          <p:cNvSpPr txBox="1"/>
          <p:nvPr/>
        </p:nvSpPr>
        <p:spPr>
          <a:xfrm>
            <a:off x="548640" y="2377440"/>
            <a:ext cx="2103120" cy="868680"/>
          </a:xfrm>
          <a:prstGeom prst="rect">
            <a:avLst/>
          </a:prstGeom>
          <a:noFill/>
          <a:ln/>
        </p:spPr>
        <p:txBody>
          <a:bodyPr wrap="square" lIns="0" tIns="0" rIns="0" bIns="0" rtlCol="0" anchor="t"/>
          <a:lstStyle/>
          <a:p>
            <a:pPr indent="0" marL="0">
              <a:buNone/>
            </a:pPr>
            <a:r>
              <a:rPr lang="en-US" sz="1400" dirty="0">
                <a:solidFill>
                  <a:schemeClr val="tx1"/>
                </a:solidFill>
              </a:rPr>
              <a:t>Kalan güta-perka uzaklaştırıldı</a:t>
            </a:r>
            <a:endParaRPr lang="en-US" sz="1400" dirty="0"/>
          </a:p>
        </p:txBody>
      </p:sp>
      <p:sp>
        <p:nvSpPr>
          <p:cNvPr id="7" name="Text 5"/>
          <p:cNvSpPr txBox="1"/>
          <p:nvPr/>
        </p:nvSpPr>
        <p:spPr>
          <a:xfrm>
            <a:off x="2788920" y="1463040"/>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8" name="Text 6"/>
          <p:cNvSpPr txBox="1"/>
          <p:nvPr/>
        </p:nvSpPr>
        <p:spPr>
          <a:xfrm>
            <a:off x="2788920" y="2011680"/>
            <a:ext cx="2103120" cy="365760"/>
          </a:xfrm>
          <a:prstGeom prst="rect">
            <a:avLst/>
          </a:prstGeom>
          <a:noFill/>
          <a:ln/>
        </p:spPr>
        <p:txBody>
          <a:bodyPr wrap="square" lIns="0" tIns="0" rIns="0" bIns="0" rtlCol="0" anchor="ctr"/>
          <a:lstStyle/>
          <a:p>
            <a:pPr indent="0" marL="0">
              <a:buNone/>
            </a:pPr>
            <a:r>
              <a:rPr lang="en-US" sz="1600" b="1" dirty="0">
                <a:solidFill>
                  <a:schemeClr val="tx2"/>
                </a:solidFill>
              </a:rPr>
              <a:t>Şekillendirme</a:t>
            </a:r>
            <a:endParaRPr lang="en-US" sz="1600" dirty="0"/>
          </a:p>
        </p:txBody>
      </p:sp>
      <p:sp>
        <p:nvSpPr>
          <p:cNvPr id="9" name="Text 7"/>
          <p:cNvSpPr txBox="1"/>
          <p:nvPr/>
        </p:nvSpPr>
        <p:spPr>
          <a:xfrm>
            <a:off x="2788920" y="2377440"/>
            <a:ext cx="2103120" cy="868680"/>
          </a:xfrm>
          <a:prstGeom prst="rect">
            <a:avLst/>
          </a:prstGeom>
          <a:noFill/>
          <a:ln/>
        </p:spPr>
        <p:txBody>
          <a:bodyPr wrap="square" lIns="0" tIns="0" rIns="0" bIns="0" rtlCol="0" anchor="t"/>
          <a:lstStyle/>
          <a:p>
            <a:pPr indent="0" marL="0">
              <a:buNone/>
            </a:pPr>
            <a:r>
              <a:rPr lang="en-US" sz="1400" dirty="0">
                <a:solidFill>
                  <a:schemeClr val="tx1"/>
                </a:solidFill>
              </a:rPr>
              <a:t>Reciproc Blue R25 + %1 NaOCl irrigasyonu</a:t>
            </a:r>
            <a:endParaRPr lang="en-US" sz="1400" dirty="0"/>
          </a:p>
        </p:txBody>
      </p:sp>
      <p:sp>
        <p:nvSpPr>
          <p:cNvPr id="10" name="Text 8"/>
          <p:cNvSpPr txBox="1"/>
          <p:nvPr/>
        </p:nvSpPr>
        <p:spPr>
          <a:xfrm>
            <a:off x="5029200" y="1463040"/>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1" name="Text 9"/>
          <p:cNvSpPr txBox="1"/>
          <p:nvPr/>
        </p:nvSpPr>
        <p:spPr>
          <a:xfrm>
            <a:off x="5029200" y="2011680"/>
            <a:ext cx="2103120" cy="365760"/>
          </a:xfrm>
          <a:prstGeom prst="rect">
            <a:avLst/>
          </a:prstGeom>
          <a:noFill/>
          <a:ln/>
        </p:spPr>
        <p:txBody>
          <a:bodyPr wrap="square" lIns="0" tIns="0" rIns="0" bIns="0" rtlCol="0" anchor="ctr"/>
          <a:lstStyle/>
          <a:p>
            <a:pPr indent="0" marL="0">
              <a:buNone/>
            </a:pPr>
            <a:r>
              <a:rPr lang="en-US" sz="1600" b="1" dirty="0">
                <a:solidFill>
                  <a:schemeClr val="tx2"/>
                </a:solidFill>
              </a:rPr>
              <a:t>Ara seans</a:t>
            </a:r>
            <a:endParaRPr lang="en-US" sz="1600" dirty="0"/>
          </a:p>
        </p:txBody>
      </p:sp>
      <p:sp>
        <p:nvSpPr>
          <p:cNvPr id="12" name="Text 10"/>
          <p:cNvSpPr txBox="1"/>
          <p:nvPr/>
        </p:nvSpPr>
        <p:spPr>
          <a:xfrm>
            <a:off x="5029200" y="2377440"/>
            <a:ext cx="2103120" cy="868680"/>
          </a:xfrm>
          <a:prstGeom prst="rect">
            <a:avLst/>
          </a:prstGeom>
          <a:noFill/>
          <a:ln/>
        </p:spPr>
        <p:txBody>
          <a:bodyPr wrap="square" lIns="0" tIns="0" rIns="0" bIns="0" rtlCol="0" anchor="t"/>
          <a:lstStyle/>
          <a:p>
            <a:pPr indent="0" marL="0">
              <a:buNone/>
            </a:pPr>
            <a:r>
              <a:rPr lang="en-US" sz="1400" dirty="0">
                <a:solidFill>
                  <a:schemeClr val="tx1"/>
                </a:solidFill>
              </a:rPr>
              <a:t>Ca(OH)₂ (ApexCal), geçici dolgu (Caviton)</a:t>
            </a:r>
            <a:endParaRPr lang="en-US" sz="1400" dirty="0"/>
          </a:p>
        </p:txBody>
      </p:sp>
      <p:sp>
        <p:nvSpPr>
          <p:cNvPr id="13" name="Text 11"/>
          <p:cNvSpPr txBox="1"/>
          <p:nvPr/>
        </p:nvSpPr>
        <p:spPr>
          <a:xfrm>
            <a:off x="7269480" y="1463040"/>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4" name="Text 12"/>
          <p:cNvSpPr txBox="1"/>
          <p:nvPr/>
        </p:nvSpPr>
        <p:spPr>
          <a:xfrm>
            <a:off x="7269480" y="2011680"/>
            <a:ext cx="2103120" cy="365760"/>
          </a:xfrm>
          <a:prstGeom prst="rect">
            <a:avLst/>
          </a:prstGeom>
          <a:noFill/>
          <a:ln/>
        </p:spPr>
        <p:txBody>
          <a:bodyPr wrap="square" lIns="0" tIns="0" rIns="0" bIns="0" rtlCol="0" anchor="ctr"/>
          <a:lstStyle/>
          <a:p>
            <a:pPr indent="0" marL="0">
              <a:buNone/>
            </a:pPr>
            <a:r>
              <a:rPr lang="en-US" sz="1600" b="1" dirty="0">
                <a:solidFill>
                  <a:schemeClr val="tx2"/>
                </a:solidFill>
              </a:rPr>
              <a:t>1 hafta sonra</a:t>
            </a:r>
            <a:endParaRPr lang="en-US" sz="1600" dirty="0"/>
          </a:p>
        </p:txBody>
      </p:sp>
      <p:sp>
        <p:nvSpPr>
          <p:cNvPr id="15" name="Text 13"/>
          <p:cNvSpPr txBox="1"/>
          <p:nvPr/>
        </p:nvSpPr>
        <p:spPr>
          <a:xfrm>
            <a:off x="7269480" y="2377440"/>
            <a:ext cx="2103120" cy="868680"/>
          </a:xfrm>
          <a:prstGeom prst="rect">
            <a:avLst/>
          </a:prstGeom>
          <a:noFill/>
          <a:ln/>
        </p:spPr>
        <p:txBody>
          <a:bodyPr wrap="square" lIns="0" tIns="0" rIns="0" bIns="0" rtlCol="0" anchor="t"/>
          <a:lstStyle/>
          <a:p>
            <a:pPr indent="0" marL="0">
              <a:buNone/>
            </a:pPr>
            <a:r>
              <a:rPr lang="en-US" sz="1400" dirty="0">
                <a:solidFill>
                  <a:schemeClr val="tx1"/>
                </a:solidFill>
              </a:rPr>
              <a:t>Güta-perka + AH Plus ile kanal dolumu</a:t>
            </a:r>
            <a:endParaRPr lang="en-US" sz="1400" dirty="0"/>
          </a:p>
        </p:txBody>
      </p:sp>
      <p:sp>
        <p:nvSpPr>
          <p:cNvPr id="16" name="Text 14"/>
          <p:cNvSpPr txBox="1"/>
          <p:nvPr/>
        </p:nvSpPr>
        <p:spPr>
          <a:xfrm>
            <a:off x="9509760" y="1463040"/>
            <a:ext cx="457200" cy="45720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7" name="Text 15"/>
          <p:cNvSpPr txBox="1"/>
          <p:nvPr/>
        </p:nvSpPr>
        <p:spPr>
          <a:xfrm>
            <a:off x="9509760" y="2011680"/>
            <a:ext cx="2103120" cy="365760"/>
          </a:xfrm>
          <a:prstGeom prst="rect">
            <a:avLst/>
          </a:prstGeom>
          <a:noFill/>
          <a:ln/>
        </p:spPr>
        <p:txBody>
          <a:bodyPr wrap="square" lIns="0" tIns="0" rIns="0" bIns="0" rtlCol="0" anchor="ctr"/>
          <a:lstStyle/>
          <a:p>
            <a:pPr indent="0" marL="0">
              <a:buNone/>
            </a:pPr>
            <a:r>
              <a:rPr lang="en-US" sz="1600" b="1" dirty="0">
                <a:solidFill>
                  <a:schemeClr val="tx2"/>
                </a:solidFill>
              </a:rPr>
              <a:t>Restorasyon</a:t>
            </a:r>
            <a:endParaRPr lang="en-US" sz="1600" dirty="0"/>
          </a:p>
        </p:txBody>
      </p:sp>
      <p:sp>
        <p:nvSpPr>
          <p:cNvPr id="18" name="Text 16"/>
          <p:cNvSpPr txBox="1"/>
          <p:nvPr/>
        </p:nvSpPr>
        <p:spPr>
          <a:xfrm>
            <a:off x="9509760" y="2377440"/>
            <a:ext cx="2103120" cy="868680"/>
          </a:xfrm>
          <a:prstGeom prst="rect">
            <a:avLst/>
          </a:prstGeom>
          <a:noFill/>
          <a:ln/>
        </p:spPr>
        <p:txBody>
          <a:bodyPr wrap="square" lIns="0" tIns="0" rIns="0" bIns="0" rtlCol="0" anchor="t"/>
          <a:lstStyle/>
          <a:p>
            <a:pPr indent="0" marL="0">
              <a:buNone/>
            </a:pPr>
            <a:r>
              <a:rPr lang="en-US" sz="1400" dirty="0">
                <a:solidFill>
                  <a:schemeClr val="tx1"/>
                </a:solidFill>
              </a:rPr>
              <a:t>#1 RelyX fiber post, RelyX U200 siman, Filtek Z350 kompozit</a:t>
            </a:r>
            <a:endParaRPr lang="en-US" sz="1400" dirty="0"/>
          </a:p>
        </p:txBody>
      </p:sp>
      <p:pic>
        <p:nvPicPr>
          <p:cNvPr id="19" name="Şekil 3F" descr="Makaledeki Şekil 3F">    </p:cNvPr>
          <p:cNvPicPr>
            <a:picLocks noChangeAspect="1"/>
          </p:cNvPicPr>
          <p:nvPr/>
        </p:nvPicPr>
        <p:blipFill>
          <a:blip r:embed="rId1"/>
          <a:stretch>
            <a:fillRect/>
          </a:stretch>
        </p:blipFill>
        <p:spPr>
          <a:xfrm>
            <a:off x="994772" y="3474720"/>
            <a:ext cx="2673896" cy="2514600"/>
          </a:xfrm>
          <a:prstGeom prst="rect">
            <a:avLst/>
          </a:prstGeom>
          <a:effectLst>
            <a:outerShdw sx="100000" sy="100000" kx="0" ky="0" algn="bl" rotWithShape="0" blurRad="76200" dist="25400" dir="5400000">
              <a:srgbClr val="000000">
                <a:alpha val="18000"/>
              </a:srgbClr>
            </a:outerShdw>
          </a:effectLst>
        </p:spPr>
      </p:pic>
      <p:pic>
        <p:nvPicPr>
          <p:cNvPr id="20" name="Şekil 3G" descr="Makaledeki Şekil 3G">    </p:cNvPr>
          <p:cNvPicPr>
            <a:picLocks noChangeAspect="1"/>
          </p:cNvPicPr>
          <p:nvPr/>
        </p:nvPicPr>
        <p:blipFill>
          <a:blip r:embed="rId2"/>
          <a:stretch>
            <a:fillRect/>
          </a:stretch>
        </p:blipFill>
        <p:spPr>
          <a:xfrm>
            <a:off x="4752346" y="3474720"/>
            <a:ext cx="2656829" cy="2514600"/>
          </a:xfrm>
          <a:prstGeom prst="rect">
            <a:avLst/>
          </a:prstGeom>
          <a:effectLst>
            <a:outerShdw sx="100000" sy="100000" kx="0" ky="0" algn="bl" rotWithShape="0" blurRad="76200" dist="25400" dir="5400000">
              <a:srgbClr val="000000">
                <a:alpha val="18000"/>
              </a:srgbClr>
            </a:outerShdw>
          </a:effectLst>
        </p:spPr>
      </p:pic>
      <p:pic>
        <p:nvPicPr>
          <p:cNvPr id="21" name="Şekil 3H" descr="Makaledeki Şekil 3H">    </p:cNvPr>
          <p:cNvPicPr>
            <a:picLocks noChangeAspect="1"/>
          </p:cNvPicPr>
          <p:nvPr/>
        </p:nvPicPr>
        <p:blipFill>
          <a:blip r:embed="rId3"/>
          <a:stretch>
            <a:fillRect/>
          </a:stretch>
        </p:blipFill>
        <p:spPr>
          <a:xfrm>
            <a:off x="8185638" y="3474720"/>
            <a:ext cx="3288323" cy="2514600"/>
          </a:xfrm>
          <a:prstGeom prst="rect">
            <a:avLst/>
          </a:prstGeom>
          <a:effectLst>
            <a:outerShdw sx="100000" sy="100000" kx="0" ky="0" algn="bl" rotWithShape="0" blurRad="76200" dist="25400" dir="5400000">
              <a:srgbClr val="000000">
                <a:alpha val="18000"/>
              </a:srgbClr>
            </a:outerShdw>
          </a:effectLst>
        </p:spPr>
      </p:pic>
      <p:sp>
        <p:nvSpPr>
          <p:cNvPr id="22" name="Text 17"/>
          <p:cNvSpPr txBox="1"/>
          <p:nvPr/>
        </p:nvSpPr>
        <p:spPr>
          <a:xfrm>
            <a:off x="548640" y="6035040"/>
            <a:ext cx="11064240" cy="292608"/>
          </a:xfrm>
          <a:prstGeom prst="rect">
            <a:avLst/>
          </a:prstGeom>
          <a:noFill/>
          <a:ln/>
        </p:spPr>
        <p:txBody>
          <a:bodyPr wrap="square" lIns="0" tIns="0" rIns="0" bIns="0" rtlCol="0" anchor="ctr"/>
          <a:lstStyle/>
          <a:p>
            <a:pPr algn="ctr" indent="0" marL="0">
              <a:buNone/>
            </a:pPr>
            <a:r>
              <a:rPr lang="en-US" sz="1100" i="1" dirty="0">
                <a:solidFill>
                  <a:schemeClr val="accent5"/>
                </a:solidFill>
              </a:rPr>
              <a:t>Kanal dolumu (3F), giriş kavitesinin kompozitle kapatılması (3G) ve postoperatif radyografi (3H)</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mj-lt" pitchFamily="34" charset="0"/>
                <a:ea typeface="+mj-lt" pitchFamily="34" charset="-122"/>
                <a:cs typeface="+mj-lt" pitchFamily="34" charset="-120"/>
              </a:rPr>
              <a:t>Sonuç: 2,5 Aylık Takip</a:t>
            </a:r>
            <a:endParaRPr lang="en-US" sz="3400" dirty="0"/>
          </a:p>
        </p:txBody>
      </p:sp>
      <p:pic>
        <p:nvPicPr>
          <p:cNvPr id="3" name="Şekil 1C" descr="Makaledeki Şekil 1C">    </p:cNvPr>
          <p:cNvPicPr>
            <a:picLocks noChangeAspect="1"/>
          </p:cNvPicPr>
          <p:nvPr/>
        </p:nvPicPr>
        <p:blipFill>
          <a:blip r:embed="rId1"/>
          <a:stretch>
            <a:fillRect/>
          </a:stretch>
        </p:blipFill>
        <p:spPr>
          <a:xfrm>
            <a:off x="635791" y="1371600"/>
            <a:ext cx="3117539" cy="2377440"/>
          </a:xfrm>
          <a:prstGeom prst="rect">
            <a:avLst/>
          </a:prstGeom>
          <a:effectLst>
            <a:outerShdw sx="100000" sy="100000" kx="0" ky="0" algn="bl" rotWithShape="0" blurRad="76200" dist="25400" dir="5400000">
              <a:srgbClr val="000000">
                <a:alpha val="18000"/>
              </a:srgbClr>
            </a:outerShdw>
          </a:effectLst>
        </p:spPr>
      </p:pic>
      <p:pic>
        <p:nvPicPr>
          <p:cNvPr id="4" name="Şekil 3K" descr="Makaledeki Şekil 3K">    </p:cNvPr>
          <p:cNvPicPr>
            <a:picLocks noChangeAspect="1"/>
          </p:cNvPicPr>
          <p:nvPr/>
        </p:nvPicPr>
        <p:blipFill>
          <a:blip r:embed="rId2"/>
          <a:stretch>
            <a:fillRect/>
          </a:stretch>
        </p:blipFill>
        <p:spPr>
          <a:xfrm>
            <a:off x="4135619" y="1371600"/>
            <a:ext cx="3067322" cy="2377440"/>
          </a:xfrm>
          <a:prstGeom prst="rect">
            <a:avLst/>
          </a:prstGeom>
          <a:effectLst>
            <a:outerShdw sx="100000" sy="100000" kx="0" ky="0" algn="bl" rotWithShape="0" blurRad="76200" dist="25400" dir="5400000">
              <a:srgbClr val="000000">
                <a:alpha val="18000"/>
              </a:srgbClr>
            </a:outerShdw>
          </a:effectLst>
        </p:spPr>
      </p:pic>
      <p:sp>
        <p:nvSpPr>
          <p:cNvPr id="5" name="Text 1"/>
          <p:cNvSpPr txBox="1"/>
          <p:nvPr/>
        </p:nvSpPr>
        <p:spPr>
          <a:xfrm>
            <a:off x="548640" y="3794760"/>
            <a:ext cx="3291840" cy="292608"/>
          </a:xfrm>
          <a:prstGeom prst="rect">
            <a:avLst/>
          </a:prstGeom>
          <a:noFill/>
          <a:ln/>
        </p:spPr>
        <p:txBody>
          <a:bodyPr wrap="square" lIns="0" tIns="0" rIns="0" bIns="0" rtlCol="0" anchor="ctr"/>
          <a:lstStyle/>
          <a:p>
            <a:pPr algn="ctr" indent="0" marL="0">
              <a:buNone/>
            </a:pPr>
            <a:r>
              <a:rPr lang="en-US" sz="1100" i="1" dirty="0">
                <a:solidFill>
                  <a:schemeClr val="accent5"/>
                </a:solidFill>
              </a:rPr>
              <a:t>Tedavi öncesi (1C)</a:t>
            </a:r>
            <a:endParaRPr lang="en-US" sz="1100" dirty="0"/>
          </a:p>
        </p:txBody>
      </p:sp>
      <p:sp>
        <p:nvSpPr>
          <p:cNvPr id="6" name="Text 2"/>
          <p:cNvSpPr txBox="1"/>
          <p:nvPr/>
        </p:nvSpPr>
        <p:spPr>
          <a:xfrm>
            <a:off x="4023360" y="3794760"/>
            <a:ext cx="3291840" cy="292608"/>
          </a:xfrm>
          <a:prstGeom prst="rect">
            <a:avLst/>
          </a:prstGeom>
          <a:noFill/>
          <a:ln/>
        </p:spPr>
        <p:txBody>
          <a:bodyPr wrap="square" lIns="0" tIns="0" rIns="0" bIns="0" rtlCol="0" anchor="ctr"/>
          <a:lstStyle/>
          <a:p>
            <a:pPr algn="ctr" indent="0" marL="0">
              <a:buNone/>
            </a:pPr>
            <a:r>
              <a:rPr lang="en-US" sz="1100" i="1" dirty="0">
                <a:solidFill>
                  <a:schemeClr val="accent5"/>
                </a:solidFill>
              </a:rPr>
              <a:t>2,5 ay sonra (3K)</a:t>
            </a:r>
            <a:endParaRPr lang="en-US" sz="1100" dirty="0"/>
          </a:p>
        </p:txBody>
      </p:sp>
      <p:pic>
        <p:nvPicPr>
          <p:cNvPr id="7" name="Şekil 3J" descr="Makaledeki Şekil 3J">    </p:cNvPr>
          <p:cNvPicPr>
            <a:picLocks noChangeAspect="1"/>
          </p:cNvPicPr>
          <p:nvPr/>
        </p:nvPicPr>
        <p:blipFill>
          <a:blip r:embed="rId3"/>
          <a:stretch>
            <a:fillRect/>
          </a:stretch>
        </p:blipFill>
        <p:spPr>
          <a:xfrm>
            <a:off x="2511028" y="4251960"/>
            <a:ext cx="2841784" cy="1783080"/>
          </a:xfrm>
          <a:prstGeom prst="rect">
            <a:avLst/>
          </a:prstGeom>
          <a:effectLst>
            <a:outerShdw sx="100000" sy="100000" kx="0" ky="0" algn="bl" rotWithShape="0" blurRad="76200" dist="25400" dir="5400000">
              <a:srgbClr val="000000">
                <a:alpha val="18000"/>
              </a:srgbClr>
            </a:outerShdw>
          </a:effectLst>
        </p:spPr>
      </p:pic>
      <p:sp>
        <p:nvSpPr>
          <p:cNvPr id="8" name="Text 3"/>
          <p:cNvSpPr txBox="1"/>
          <p:nvPr/>
        </p:nvSpPr>
        <p:spPr>
          <a:xfrm>
            <a:off x="548640" y="6053328"/>
            <a:ext cx="6766560" cy="292608"/>
          </a:xfrm>
          <a:prstGeom prst="rect">
            <a:avLst/>
          </a:prstGeom>
          <a:noFill/>
          <a:ln/>
        </p:spPr>
        <p:txBody>
          <a:bodyPr wrap="square" lIns="0" tIns="0" rIns="0" bIns="0" rtlCol="0" anchor="ctr"/>
          <a:lstStyle/>
          <a:p>
            <a:pPr algn="ctr" indent="0" marL="0">
              <a:buNone/>
            </a:pPr>
            <a:r>
              <a:rPr lang="en-US" sz="1100" i="1" dirty="0">
                <a:solidFill>
                  <a:schemeClr val="accent5"/>
                </a:solidFill>
              </a:rPr>
              <a:t>Takipte ağız içi görünüm (3J)</a:t>
            </a:r>
            <a:endParaRPr lang="en-US" sz="1100" dirty="0"/>
          </a:p>
        </p:txBody>
      </p:sp>
      <p:sp>
        <p:nvSpPr>
          <p:cNvPr id="9" name="Shape 4"/>
          <p:cNvSpPr/>
          <p:nvPr/>
        </p:nvSpPr>
        <p:spPr>
          <a:xfrm>
            <a:off x="7772400" y="1463040"/>
            <a:ext cx="566928" cy="566928"/>
          </a:xfrm>
          <a:prstGeom prst="ellipse">
            <a:avLst/>
          </a:prstGeom>
          <a:solidFill>
            <a:schemeClr val="accent2"/>
          </a:solidFill>
          <a:ln/>
        </p:spPr>
      </p:sp>
      <p:pic>
        <p:nvPicPr>
          <p:cNvPr id="10" name="Image 3" descr="preencoded.png">    </p:cNvPr>
          <p:cNvPicPr>
            <a:picLocks noChangeAspect="1"/>
          </p:cNvPicPr>
          <p:nvPr/>
        </p:nvPicPr>
        <p:blipFill>
          <a:blip r:embed="rId4"/>
          <a:stretch>
            <a:fillRect/>
          </a:stretch>
        </p:blipFill>
        <p:spPr>
          <a:xfrm>
            <a:off x="7914132" y="1604772"/>
            <a:ext cx="283464" cy="283464"/>
          </a:xfrm>
          <a:prstGeom prst="rect">
            <a:avLst/>
          </a:prstGeom>
        </p:spPr>
      </p:pic>
      <p:sp>
        <p:nvSpPr>
          <p:cNvPr id="11" name="Text 5"/>
          <p:cNvSpPr txBox="1"/>
          <p:nvPr/>
        </p:nvSpPr>
        <p:spPr>
          <a:xfrm>
            <a:off x="8503920" y="1371600"/>
            <a:ext cx="3108960" cy="777240"/>
          </a:xfrm>
          <a:prstGeom prst="rect">
            <a:avLst/>
          </a:prstGeom>
          <a:noFill/>
          <a:ln/>
        </p:spPr>
        <p:txBody>
          <a:bodyPr wrap="square" lIns="0" tIns="0" rIns="0" bIns="0" rtlCol="0" anchor="ctr"/>
          <a:lstStyle/>
          <a:p>
            <a:pPr indent="0" marL="0">
              <a:buNone/>
            </a:pPr>
            <a:r>
              <a:rPr lang="en-US" sz="1600" dirty="0">
                <a:solidFill>
                  <a:schemeClr val="tx1"/>
                </a:solidFill>
              </a:rPr>
              <a:t>Hasta tamamen asemptomatik</a:t>
            </a:r>
            <a:endParaRPr lang="en-US" sz="1600" dirty="0"/>
          </a:p>
        </p:txBody>
      </p:sp>
      <p:sp>
        <p:nvSpPr>
          <p:cNvPr id="12" name="Shape 6"/>
          <p:cNvSpPr/>
          <p:nvPr/>
        </p:nvSpPr>
        <p:spPr>
          <a:xfrm>
            <a:off x="7772400" y="2606040"/>
            <a:ext cx="566928" cy="566928"/>
          </a:xfrm>
          <a:prstGeom prst="ellipse">
            <a:avLst/>
          </a:prstGeom>
          <a:solidFill>
            <a:schemeClr val="accent1"/>
          </a:solidFill>
          <a:ln/>
        </p:spPr>
      </p:sp>
      <p:pic>
        <p:nvPicPr>
          <p:cNvPr id="13" name="Image 4" descr="preencoded.png">    </p:cNvPr>
          <p:cNvPicPr>
            <a:picLocks noChangeAspect="1"/>
          </p:cNvPicPr>
          <p:nvPr/>
        </p:nvPicPr>
        <p:blipFill>
          <a:blip r:embed="rId5"/>
          <a:stretch>
            <a:fillRect/>
          </a:stretch>
        </p:blipFill>
        <p:spPr>
          <a:xfrm>
            <a:off x="7914132" y="2747772"/>
            <a:ext cx="283464" cy="283464"/>
          </a:xfrm>
          <a:prstGeom prst="rect">
            <a:avLst/>
          </a:prstGeom>
        </p:spPr>
      </p:pic>
      <p:sp>
        <p:nvSpPr>
          <p:cNvPr id="14" name="Text 7"/>
          <p:cNvSpPr txBox="1"/>
          <p:nvPr/>
        </p:nvSpPr>
        <p:spPr>
          <a:xfrm>
            <a:off x="8503920" y="2514600"/>
            <a:ext cx="3108960" cy="777240"/>
          </a:xfrm>
          <a:prstGeom prst="rect">
            <a:avLst/>
          </a:prstGeom>
          <a:noFill/>
          <a:ln/>
        </p:spPr>
        <p:txBody>
          <a:bodyPr wrap="square" lIns="0" tIns="0" rIns="0" bIns="0" rtlCol="0" anchor="ctr"/>
          <a:lstStyle/>
          <a:p>
            <a:pPr indent="0" marL="0">
              <a:buNone/>
            </a:pPr>
            <a:r>
              <a:rPr lang="en-US" sz="1600" dirty="0">
                <a:solidFill>
                  <a:schemeClr val="tx1"/>
                </a:solidFill>
              </a:rPr>
              <a:t>Radyografide periradiküler iyileşme bulguları</a:t>
            </a:r>
            <a:endParaRPr lang="en-US" sz="1600" dirty="0"/>
          </a:p>
        </p:txBody>
      </p:sp>
      <p:sp>
        <p:nvSpPr>
          <p:cNvPr id="15" name="Shape 8"/>
          <p:cNvSpPr/>
          <p:nvPr/>
        </p:nvSpPr>
        <p:spPr>
          <a:xfrm>
            <a:off x="7772400" y="3749040"/>
            <a:ext cx="566928" cy="566928"/>
          </a:xfrm>
          <a:prstGeom prst="ellipse">
            <a:avLst/>
          </a:prstGeom>
          <a:solidFill>
            <a:schemeClr val="accent1"/>
          </a:solidFill>
          <a:ln/>
        </p:spPr>
      </p:sp>
      <p:pic>
        <p:nvPicPr>
          <p:cNvPr id="16" name="Image 5" descr="preencoded.png">    </p:cNvPr>
          <p:cNvPicPr>
            <a:picLocks noChangeAspect="1"/>
          </p:cNvPicPr>
          <p:nvPr/>
        </p:nvPicPr>
        <p:blipFill>
          <a:blip r:embed="rId6"/>
          <a:stretch>
            <a:fillRect/>
          </a:stretch>
        </p:blipFill>
        <p:spPr>
          <a:xfrm>
            <a:off x="7914132" y="3890772"/>
            <a:ext cx="283464" cy="283464"/>
          </a:xfrm>
          <a:prstGeom prst="rect">
            <a:avLst/>
          </a:prstGeom>
        </p:spPr>
      </p:pic>
      <p:sp>
        <p:nvSpPr>
          <p:cNvPr id="17" name="Text 9"/>
          <p:cNvSpPr txBox="1"/>
          <p:nvPr/>
        </p:nvSpPr>
        <p:spPr>
          <a:xfrm>
            <a:off x="8503920" y="3657600"/>
            <a:ext cx="3108960" cy="777240"/>
          </a:xfrm>
          <a:prstGeom prst="rect">
            <a:avLst/>
          </a:prstGeom>
          <a:noFill/>
          <a:ln/>
        </p:spPr>
        <p:txBody>
          <a:bodyPr wrap="square" lIns="0" tIns="0" rIns="0" bIns="0" rtlCol="0" anchor="ctr"/>
          <a:lstStyle/>
          <a:p>
            <a:pPr indent="0" marL="0">
              <a:buNone/>
            </a:pPr>
            <a:r>
              <a:rPr lang="en-US" sz="1600" dirty="0">
                <a:solidFill>
                  <a:schemeClr val="tx1"/>
                </a:solidFill>
              </a:rPr>
              <a:t>Zirkonya kuron yerinde korundu, perforasyon olmadı</a:t>
            </a:r>
            <a:endParaRPr lang="en-US" sz="1600" dirty="0"/>
          </a:p>
        </p:txBody>
      </p:sp>
      <p:sp>
        <p:nvSpPr>
          <p:cNvPr id="18" name="Shape 10"/>
          <p:cNvSpPr/>
          <p:nvPr/>
        </p:nvSpPr>
        <p:spPr>
          <a:xfrm>
            <a:off x="7772400" y="4892040"/>
            <a:ext cx="566928" cy="566928"/>
          </a:xfrm>
          <a:prstGeom prst="ellipse">
            <a:avLst/>
          </a:prstGeom>
          <a:solidFill>
            <a:schemeClr val="accent1"/>
          </a:solidFill>
          <a:ln/>
        </p:spPr>
      </p:sp>
      <p:pic>
        <p:nvPicPr>
          <p:cNvPr id="19" name="Image 6" descr="preencoded.png">    </p:cNvPr>
          <p:cNvPicPr>
            <a:picLocks noChangeAspect="1"/>
          </p:cNvPicPr>
          <p:nvPr/>
        </p:nvPicPr>
        <p:blipFill>
          <a:blip r:embed="rId7"/>
          <a:stretch>
            <a:fillRect/>
          </a:stretch>
        </p:blipFill>
        <p:spPr>
          <a:xfrm>
            <a:off x="7914132" y="5033772"/>
            <a:ext cx="283464" cy="283464"/>
          </a:xfrm>
          <a:prstGeom prst="rect">
            <a:avLst/>
          </a:prstGeom>
        </p:spPr>
      </p:pic>
      <p:sp>
        <p:nvSpPr>
          <p:cNvPr id="20" name="Text 11"/>
          <p:cNvSpPr txBox="1"/>
          <p:nvPr/>
        </p:nvSpPr>
        <p:spPr>
          <a:xfrm>
            <a:off x="8503920" y="4800600"/>
            <a:ext cx="3108960" cy="777240"/>
          </a:xfrm>
          <a:prstGeom prst="rect">
            <a:avLst/>
          </a:prstGeom>
          <a:noFill/>
          <a:ln/>
        </p:spPr>
        <p:txBody>
          <a:bodyPr wrap="square" lIns="0" tIns="0" rIns="0" bIns="0" rtlCol="0" anchor="ctr"/>
          <a:lstStyle/>
          <a:p>
            <a:pPr indent="0" marL="0">
              <a:buNone/>
            </a:pPr>
            <a:r>
              <a:rPr lang="en-US" sz="1600" dirty="0">
                <a:solidFill>
                  <a:schemeClr val="tx1"/>
                </a:solidFill>
              </a:rPr>
              <a:t>Dentin ve kuron hasarı en aza indirildi</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640080" y="2651760"/>
            <a:ext cx="6400800" cy="1097280"/>
          </a:xfrm>
          <a:prstGeom prst="rect">
            <a:avLst/>
          </a:prstGeom>
          <a:noFill/>
          <a:ln/>
        </p:spPr>
        <p:txBody>
          <a:bodyPr wrap="square" lIns="0" tIns="0" rIns="0" bIns="0" rtlCol="0" anchor="ctr"/>
          <a:lstStyle/>
          <a:p>
            <a:pPr algn="l" indent="0" marL="0">
              <a:buNone/>
            </a:pPr>
            <a:r>
              <a:rPr lang="en-US" sz="4000" b="1" dirty="0">
                <a:solidFill>
                  <a:schemeClr val="bg1"/>
                </a:solidFill>
                <a:latin typeface="+mj-lt" pitchFamily="34" charset="0"/>
                <a:ea typeface="+mj-lt" pitchFamily="34" charset="-122"/>
                <a:cs typeface="+mj-lt" pitchFamily="34" charset="-120"/>
              </a:rPr>
              <a:t>Tartışma</a:t>
            </a:r>
            <a:endParaRPr lang="en-US" sz="4000" dirty="0"/>
          </a:p>
        </p:txBody>
      </p:sp>
      <p:sp>
        <p:nvSpPr>
          <p:cNvPr id="3" name="Text 0"/>
          <p:cNvSpPr/>
          <p:nvPr>
            <p:ph idx="101" type="body" hasCustomPrompt="1"/>
          </p:nvPr>
        </p:nvSpPr>
        <p:spPr>
          <a:xfrm>
            <a:off x="640080" y="3749040"/>
            <a:ext cx="6400800" cy="731520"/>
          </a:xfrm>
          <a:prstGeom prst="rect">
            <a:avLst/>
          </a:prstGeom>
          <a:noFill/>
          <a:ln/>
        </p:spPr>
        <p:txBody>
          <a:bodyPr wrap="square" lIns="0" tIns="0" rIns="0" bIns="0" rtlCol="0" anchor="t"/>
          <a:lstStyle/>
          <a:p>
            <a:pPr algn="l" indent="0" marL="0">
              <a:buNone/>
            </a:pPr>
            <a:r>
              <a:rPr lang="en-US" sz="1800" dirty="0">
                <a:solidFill>
                  <a:schemeClr val="accent3"/>
                </a:solidFill>
              </a:rPr>
              <a:t>Klinik değerlendirmeler ve sınırlamalar</a:t>
            </a:r>
            <a:endParaRPr lang="en-US" sz="1800" dirty="0"/>
          </a:p>
        </p:txBody>
      </p:sp>
      <p:pic>
        <p:nvPicPr>
          <p:cNvPr id="4" name="Bölüm görseli" descr="Robot koluna takılı el aleti (Şekil 2G)">    </p:cNvPr>
          <p:cNvPicPr>
            <a:picLocks noChangeAspect="1"/>
          </p:cNvPicPr>
          <p:nvPr/>
        </p:nvPicPr>
        <p:blipFill>
          <a:blip r:embed="rId1"/>
          <a:stretch>
            <a:fillRect/>
          </a:stretch>
        </p:blipFill>
        <p:spPr>
          <a:xfrm>
            <a:off x="7406640" y="1828800"/>
            <a:ext cx="4114800" cy="2698906"/>
          </a:xfrm>
          <a:prstGeom prst="rect">
            <a:avLst/>
          </a:prstGeom>
        </p:spPr>
      </p:pic>
      <p:sp>
        <p:nvSpPr>
          <p:cNvPr id="5" name="Text 2"/>
          <p:cNvSpPr txBox="1"/>
          <p:nvPr/>
        </p:nvSpPr>
        <p:spPr>
          <a:xfrm>
            <a:off x="7406640" y="4619146"/>
            <a:ext cx="4114800" cy="292608"/>
          </a:xfrm>
          <a:prstGeom prst="rect">
            <a:avLst/>
          </a:prstGeom>
          <a:noFill/>
          <a:ln/>
        </p:spPr>
        <p:txBody>
          <a:bodyPr wrap="square" lIns="0" tIns="0" rIns="0" bIns="0" rtlCol="0" anchor="ctr"/>
          <a:lstStyle/>
          <a:p>
            <a:pPr algn="ctr" indent="0" marL="0">
              <a:buNone/>
            </a:pPr>
            <a:r>
              <a:rPr lang="en-US" sz="1100" i="1" dirty="0">
                <a:solidFill>
                  <a:schemeClr val="accent3"/>
                </a:solidFill>
              </a:rPr>
              <a:t>Robot koluna takılı el aleti (Şekil 2G)</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mj-lt" pitchFamily="34" charset="0"/>
                <a:ea typeface="+mj-lt" pitchFamily="34" charset="-122"/>
                <a:cs typeface="+mj-lt" pitchFamily="34" charset="-120"/>
              </a:rPr>
              <a:t>Robotun Klinik Katkısı</a:t>
            </a:r>
            <a:endParaRPr lang="en-US" sz="3400" dirty="0"/>
          </a:p>
        </p:txBody>
      </p:sp>
      <p:sp>
        <p:nvSpPr>
          <p:cNvPr id="3" name="Shape 1"/>
          <p:cNvSpPr/>
          <p:nvPr/>
        </p:nvSpPr>
        <p:spPr>
          <a:xfrm>
            <a:off x="548640" y="1371600"/>
            <a:ext cx="5440680" cy="1920240"/>
          </a:xfrm>
          <a:prstGeom prst="roundRect">
            <a:avLst>
              <a:gd name="adj" fmla="val 5714"/>
            </a:avLst>
          </a:prstGeom>
          <a:solidFill>
            <a:schemeClr val="bg2"/>
          </a:solidFill>
          <a:ln/>
        </p:spPr>
      </p:sp>
      <p:sp>
        <p:nvSpPr>
          <p:cNvPr id="4" name="Shape 2"/>
          <p:cNvSpPr/>
          <p:nvPr/>
        </p:nvSpPr>
        <p:spPr>
          <a:xfrm>
            <a:off x="822960" y="1645920"/>
            <a:ext cx="640080" cy="64008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982980" y="1805940"/>
            <a:ext cx="320040" cy="320040"/>
          </a:xfrm>
          <a:prstGeom prst="rect">
            <a:avLst/>
          </a:prstGeom>
        </p:spPr>
      </p:pic>
      <p:sp>
        <p:nvSpPr>
          <p:cNvPr id="6" name="Text 3"/>
          <p:cNvSpPr txBox="1"/>
          <p:nvPr/>
        </p:nvSpPr>
        <p:spPr>
          <a:xfrm>
            <a:off x="1645920" y="1645920"/>
            <a:ext cx="4114800" cy="457200"/>
          </a:xfrm>
          <a:prstGeom prst="rect">
            <a:avLst/>
          </a:prstGeom>
          <a:noFill/>
          <a:ln/>
        </p:spPr>
        <p:txBody>
          <a:bodyPr wrap="square" lIns="0" tIns="0" rIns="0" bIns="0" rtlCol="0" anchor="ctr"/>
          <a:lstStyle/>
          <a:p>
            <a:pPr indent="0" marL="0">
              <a:buNone/>
            </a:pPr>
            <a:r>
              <a:rPr lang="en-US" sz="1800" b="1" dirty="0">
                <a:solidFill>
                  <a:schemeClr val="tx2"/>
                </a:solidFill>
              </a:rPr>
              <a:t>Kuvvet eşiği</a:t>
            </a:r>
            <a:endParaRPr lang="en-US" sz="1800" dirty="0"/>
          </a:p>
        </p:txBody>
      </p:sp>
      <p:sp>
        <p:nvSpPr>
          <p:cNvPr id="7" name="Text 4"/>
          <p:cNvSpPr txBox="1"/>
          <p:nvPr/>
        </p:nvSpPr>
        <p:spPr>
          <a:xfrm>
            <a:off x="1645920" y="2121408"/>
            <a:ext cx="4114800" cy="1051560"/>
          </a:xfrm>
          <a:prstGeom prst="rect">
            <a:avLst/>
          </a:prstGeom>
          <a:noFill/>
          <a:ln/>
        </p:spPr>
        <p:txBody>
          <a:bodyPr wrap="square" lIns="0" tIns="0" rIns="0" bIns="0" rtlCol="0" anchor="t"/>
          <a:lstStyle/>
          <a:p>
            <a:pPr indent="0" marL="0">
              <a:buNone/>
            </a:pPr>
            <a:r>
              <a:rPr lang="en-US" sz="1400" dirty="0">
                <a:solidFill>
                  <a:schemeClr val="tx1"/>
                </a:solidFill>
              </a:rPr>
              <a:t>Sınırlı aşağı yönlü kuvvet; kuronda mikroçatlak, çene ekleminde stres ve frez kayması riski azalır</a:t>
            </a:r>
            <a:endParaRPr lang="en-US" sz="1400" dirty="0"/>
          </a:p>
        </p:txBody>
      </p:sp>
      <p:sp>
        <p:nvSpPr>
          <p:cNvPr id="8" name="Shape 5"/>
          <p:cNvSpPr/>
          <p:nvPr/>
        </p:nvSpPr>
        <p:spPr>
          <a:xfrm>
            <a:off x="6172200" y="1371600"/>
            <a:ext cx="5440680" cy="1920240"/>
          </a:xfrm>
          <a:prstGeom prst="roundRect">
            <a:avLst>
              <a:gd name="adj" fmla="val 5714"/>
            </a:avLst>
          </a:prstGeom>
          <a:solidFill>
            <a:schemeClr val="bg2"/>
          </a:solidFill>
          <a:ln/>
        </p:spPr>
      </p:sp>
      <p:sp>
        <p:nvSpPr>
          <p:cNvPr id="9" name="Shape 6"/>
          <p:cNvSpPr/>
          <p:nvPr/>
        </p:nvSpPr>
        <p:spPr>
          <a:xfrm>
            <a:off x="6446520" y="1645920"/>
            <a:ext cx="640080" cy="640080"/>
          </a:xfrm>
          <a:prstGeom prst="ellipse">
            <a:avLst/>
          </a:prstGeom>
          <a:solidFill>
            <a:schemeClr val="accent1"/>
          </a:solidFill>
          <a:ln/>
        </p:spPr>
      </p:sp>
      <p:pic>
        <p:nvPicPr>
          <p:cNvPr id="10" name="Image 1" descr="preencoded.png">    </p:cNvPr>
          <p:cNvPicPr>
            <a:picLocks noChangeAspect="1"/>
          </p:cNvPicPr>
          <p:nvPr/>
        </p:nvPicPr>
        <p:blipFill>
          <a:blip r:embed="rId2"/>
          <a:stretch>
            <a:fillRect/>
          </a:stretch>
        </p:blipFill>
        <p:spPr>
          <a:xfrm>
            <a:off x="6606540" y="1805940"/>
            <a:ext cx="320040" cy="320040"/>
          </a:xfrm>
          <a:prstGeom prst="rect">
            <a:avLst/>
          </a:prstGeom>
        </p:spPr>
      </p:pic>
      <p:sp>
        <p:nvSpPr>
          <p:cNvPr id="11" name="Text 7"/>
          <p:cNvSpPr txBox="1"/>
          <p:nvPr/>
        </p:nvSpPr>
        <p:spPr>
          <a:xfrm>
            <a:off x="7269480" y="1645920"/>
            <a:ext cx="4114800" cy="457200"/>
          </a:xfrm>
          <a:prstGeom prst="rect">
            <a:avLst/>
          </a:prstGeom>
          <a:noFill/>
          <a:ln/>
        </p:spPr>
        <p:txBody>
          <a:bodyPr wrap="square" lIns="0" tIns="0" rIns="0" bIns="0" rtlCol="0" anchor="ctr"/>
          <a:lstStyle/>
          <a:p>
            <a:pPr indent="0" marL="0">
              <a:buNone/>
            </a:pPr>
            <a:r>
              <a:rPr lang="en-US" sz="1800" b="1" dirty="0">
                <a:solidFill>
                  <a:schemeClr val="tx2"/>
                </a:solidFill>
              </a:rPr>
              <a:t>El aleti seçimi</a:t>
            </a:r>
            <a:endParaRPr lang="en-US" sz="1800" dirty="0"/>
          </a:p>
        </p:txBody>
      </p:sp>
      <p:sp>
        <p:nvSpPr>
          <p:cNvPr id="12" name="Text 8"/>
          <p:cNvSpPr txBox="1"/>
          <p:nvPr/>
        </p:nvSpPr>
        <p:spPr>
          <a:xfrm>
            <a:off x="7269480" y="2121408"/>
            <a:ext cx="4114800" cy="1051560"/>
          </a:xfrm>
          <a:prstGeom prst="rect">
            <a:avLst/>
          </a:prstGeom>
          <a:noFill/>
          <a:ln/>
        </p:spPr>
        <p:txBody>
          <a:bodyPr wrap="square" lIns="0" tIns="0" rIns="0" bIns="0" rtlCol="0" anchor="t"/>
          <a:lstStyle/>
          <a:p>
            <a:pPr indent="0" marL="0">
              <a:buNone/>
            </a:pPr>
            <a:r>
              <a:rPr lang="en-US" sz="1400" dirty="0">
                <a:solidFill>
                  <a:schemeClr val="tx1"/>
                </a:solidFill>
              </a:rPr>
              <a:t>Kanal içinde daha yüksek hassasiyet için 2000 rpm elektrikli başlık: daha az titreşim, yavaş ısınma, yüksek eş merkezlilik</a:t>
            </a:r>
            <a:endParaRPr lang="en-US" sz="1400" dirty="0"/>
          </a:p>
        </p:txBody>
      </p:sp>
      <p:sp>
        <p:nvSpPr>
          <p:cNvPr id="13" name="Shape 9"/>
          <p:cNvSpPr/>
          <p:nvPr/>
        </p:nvSpPr>
        <p:spPr>
          <a:xfrm>
            <a:off x="548640" y="3520440"/>
            <a:ext cx="5440680" cy="1920240"/>
          </a:xfrm>
          <a:prstGeom prst="roundRect">
            <a:avLst>
              <a:gd name="adj" fmla="val 5714"/>
            </a:avLst>
          </a:prstGeom>
          <a:solidFill>
            <a:schemeClr val="bg2"/>
          </a:solidFill>
          <a:ln/>
        </p:spPr>
      </p:sp>
      <p:sp>
        <p:nvSpPr>
          <p:cNvPr id="14" name="Shape 10"/>
          <p:cNvSpPr/>
          <p:nvPr/>
        </p:nvSpPr>
        <p:spPr>
          <a:xfrm>
            <a:off x="822960" y="3794760"/>
            <a:ext cx="640080" cy="640080"/>
          </a:xfrm>
          <a:prstGeom prst="ellipse">
            <a:avLst/>
          </a:prstGeom>
          <a:solidFill>
            <a:schemeClr val="accent1"/>
          </a:solidFill>
          <a:ln/>
        </p:spPr>
      </p:sp>
      <p:pic>
        <p:nvPicPr>
          <p:cNvPr id="15" name="Image 2" descr="preencoded.png">    </p:cNvPr>
          <p:cNvPicPr>
            <a:picLocks noChangeAspect="1"/>
          </p:cNvPicPr>
          <p:nvPr/>
        </p:nvPicPr>
        <p:blipFill>
          <a:blip r:embed="rId3"/>
          <a:stretch>
            <a:fillRect/>
          </a:stretch>
        </p:blipFill>
        <p:spPr>
          <a:xfrm>
            <a:off x="982980" y="3954780"/>
            <a:ext cx="320040" cy="320040"/>
          </a:xfrm>
          <a:prstGeom prst="rect">
            <a:avLst/>
          </a:prstGeom>
        </p:spPr>
      </p:pic>
      <p:sp>
        <p:nvSpPr>
          <p:cNvPr id="16" name="Text 11"/>
          <p:cNvSpPr txBox="1"/>
          <p:nvPr/>
        </p:nvSpPr>
        <p:spPr>
          <a:xfrm>
            <a:off x="1645920" y="3794760"/>
            <a:ext cx="4114800" cy="457200"/>
          </a:xfrm>
          <a:prstGeom prst="rect">
            <a:avLst/>
          </a:prstGeom>
          <a:noFill/>
          <a:ln/>
        </p:spPr>
        <p:txBody>
          <a:bodyPr wrap="square" lIns="0" tIns="0" rIns="0" bIns="0" rtlCol="0" anchor="ctr"/>
          <a:lstStyle/>
          <a:p>
            <a:pPr indent="0" marL="0">
              <a:buNone/>
            </a:pPr>
            <a:r>
              <a:rPr lang="en-US" sz="1800" b="1" dirty="0">
                <a:solidFill>
                  <a:schemeClr val="tx2"/>
                </a:solidFill>
              </a:rPr>
              <a:t>Isı kontrolü</a:t>
            </a:r>
            <a:endParaRPr lang="en-US" sz="1800" dirty="0"/>
          </a:p>
        </p:txBody>
      </p:sp>
      <p:sp>
        <p:nvSpPr>
          <p:cNvPr id="17" name="Text 12"/>
          <p:cNvSpPr txBox="1"/>
          <p:nvPr/>
        </p:nvSpPr>
        <p:spPr>
          <a:xfrm>
            <a:off x="1645920" y="4270248"/>
            <a:ext cx="4114800" cy="1051560"/>
          </a:xfrm>
          <a:prstGeom prst="rect">
            <a:avLst/>
          </a:prstGeom>
          <a:noFill/>
          <a:ln/>
        </p:spPr>
        <p:txBody>
          <a:bodyPr wrap="square" lIns="0" tIns="0" rIns="0" bIns="0" rtlCol="0" anchor="t"/>
          <a:lstStyle/>
          <a:p>
            <a:pPr indent="0" marL="0">
              <a:buNone/>
            </a:pPr>
            <a:r>
              <a:rPr lang="en-US" sz="1400" dirty="0">
                <a:solidFill>
                  <a:schemeClr val="tx1"/>
                </a:solidFill>
              </a:rPr>
              <a:t>Küçük pompalama hareketi, düşük devir ve elle irrigasyon ile soğutma ve debris temizliği</a:t>
            </a:r>
            <a:endParaRPr lang="en-US" sz="1400" dirty="0"/>
          </a:p>
        </p:txBody>
      </p:sp>
      <p:sp>
        <p:nvSpPr>
          <p:cNvPr id="18" name="Shape 13"/>
          <p:cNvSpPr/>
          <p:nvPr/>
        </p:nvSpPr>
        <p:spPr>
          <a:xfrm>
            <a:off x="6172200" y="3520440"/>
            <a:ext cx="5440680" cy="1920240"/>
          </a:xfrm>
          <a:prstGeom prst="roundRect">
            <a:avLst>
              <a:gd name="adj" fmla="val 5714"/>
            </a:avLst>
          </a:prstGeom>
          <a:solidFill>
            <a:schemeClr val="bg2"/>
          </a:solidFill>
          <a:ln/>
        </p:spPr>
      </p:sp>
      <p:sp>
        <p:nvSpPr>
          <p:cNvPr id="19" name="Shape 14"/>
          <p:cNvSpPr/>
          <p:nvPr/>
        </p:nvSpPr>
        <p:spPr>
          <a:xfrm>
            <a:off x="6446520" y="3794760"/>
            <a:ext cx="640080" cy="640080"/>
          </a:xfrm>
          <a:prstGeom prst="ellipse">
            <a:avLst/>
          </a:prstGeom>
          <a:solidFill>
            <a:schemeClr val="accent1"/>
          </a:solidFill>
          <a:ln/>
        </p:spPr>
      </p:sp>
      <p:pic>
        <p:nvPicPr>
          <p:cNvPr id="20" name="Image 3" descr="preencoded.png">    </p:cNvPr>
          <p:cNvPicPr>
            <a:picLocks noChangeAspect="1"/>
          </p:cNvPicPr>
          <p:nvPr/>
        </p:nvPicPr>
        <p:blipFill>
          <a:blip r:embed="rId4"/>
          <a:stretch>
            <a:fillRect/>
          </a:stretch>
        </p:blipFill>
        <p:spPr>
          <a:xfrm>
            <a:off x="6606540" y="3954780"/>
            <a:ext cx="320040" cy="320040"/>
          </a:xfrm>
          <a:prstGeom prst="rect">
            <a:avLst/>
          </a:prstGeom>
        </p:spPr>
      </p:pic>
      <p:sp>
        <p:nvSpPr>
          <p:cNvPr id="21" name="Text 15"/>
          <p:cNvSpPr txBox="1"/>
          <p:nvPr/>
        </p:nvSpPr>
        <p:spPr>
          <a:xfrm>
            <a:off x="7269480" y="3794760"/>
            <a:ext cx="4114800" cy="457200"/>
          </a:xfrm>
          <a:prstGeom prst="rect">
            <a:avLst/>
          </a:prstGeom>
          <a:noFill/>
          <a:ln/>
        </p:spPr>
        <p:txBody>
          <a:bodyPr wrap="square" lIns="0" tIns="0" rIns="0" bIns="0" rtlCol="0" anchor="ctr"/>
          <a:lstStyle/>
          <a:p>
            <a:pPr indent="0" marL="0">
              <a:buNone/>
            </a:pPr>
            <a:r>
              <a:rPr lang="en-US" sz="1800" b="1" dirty="0">
                <a:solidFill>
                  <a:schemeClr val="tx2"/>
                </a:solidFill>
              </a:rPr>
              <a:t>CBCT artefaktı</a:t>
            </a:r>
            <a:endParaRPr lang="en-US" sz="1800" dirty="0"/>
          </a:p>
        </p:txBody>
      </p:sp>
      <p:sp>
        <p:nvSpPr>
          <p:cNvPr id="22" name="Text 16"/>
          <p:cNvSpPr txBox="1"/>
          <p:nvPr/>
        </p:nvSpPr>
        <p:spPr>
          <a:xfrm>
            <a:off x="7269480" y="4270248"/>
            <a:ext cx="4114800" cy="1051560"/>
          </a:xfrm>
          <a:prstGeom prst="rect">
            <a:avLst/>
          </a:prstGeom>
          <a:noFill/>
          <a:ln/>
        </p:spPr>
        <p:txBody>
          <a:bodyPr wrap="square" lIns="0" tIns="0" rIns="0" bIns="0" rtlCol="0" anchor="t"/>
          <a:lstStyle/>
          <a:p>
            <a:pPr indent="0" marL="0">
              <a:buNone/>
            </a:pPr>
            <a:r>
              <a:rPr lang="en-US" sz="1400" dirty="0">
                <a:solidFill>
                  <a:schemeClr val="tx1"/>
                </a:solidFill>
              </a:rPr>
              <a:t>Post 1,4 mm ölçülse de 1 mm frez seçildi; kalan materyal mikroskop altında ultrasonikle alındı</a:t>
            </a:r>
            <a:endParaRPr lang="en-US" sz="1400" dirty="0"/>
          </a:p>
        </p:txBody>
      </p:sp>
      <p:sp>
        <p:nvSpPr>
          <p:cNvPr id="23" name="Text 17"/>
          <p:cNvSpPr txBox="1"/>
          <p:nvPr/>
        </p:nvSpPr>
        <p:spPr>
          <a:xfrm>
            <a:off x="548640" y="5715000"/>
            <a:ext cx="11064240" cy="502920"/>
          </a:xfrm>
          <a:prstGeom prst="rect">
            <a:avLst/>
          </a:prstGeom>
          <a:noFill/>
          <a:ln/>
        </p:spPr>
        <p:txBody>
          <a:bodyPr wrap="square" lIns="0" tIns="0" rIns="0" bIns="0" rtlCol="0" anchor="ctr"/>
          <a:lstStyle/>
          <a:p>
            <a:pPr indent="0" marL="0">
              <a:buNone/>
            </a:pPr>
            <a:r>
              <a:rPr lang="en-US" sz="1300" i="1" dirty="0">
                <a:solidFill>
                  <a:schemeClr val="accent5"/>
                </a:solidFill>
              </a:rPr>
              <a:t>In vitro karşılaştırmada robot destekli mikrocerrahi, ortalama 0,36 mm (platform) ve 0,41 mm (uç) sapma ile en yüksek doğruluğu gösterdi (Chen ve ark.)</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mj-lt" pitchFamily="34" charset="0"/>
                <a:ea typeface="+mj-lt" pitchFamily="34" charset="-122"/>
                <a:cs typeface="+mj-lt" pitchFamily="34" charset="-120"/>
              </a:rPr>
              <a:t>Rubber Dam İzolasyonunun Önemi</a:t>
            </a:r>
            <a:endParaRPr lang="en-US" sz="3400" dirty="0"/>
          </a:p>
        </p:txBody>
      </p:sp>
      <p:sp>
        <p:nvSpPr>
          <p:cNvPr id="3" name="Shape 1"/>
          <p:cNvSpPr/>
          <p:nvPr/>
        </p:nvSpPr>
        <p:spPr>
          <a:xfrm>
            <a:off x="548640" y="1417320"/>
            <a:ext cx="566928" cy="566928"/>
          </a:xfrm>
          <a:prstGeom prst="ellipse">
            <a:avLst/>
          </a:prstGeom>
          <a:solidFill>
            <a:schemeClr val="accent1"/>
          </a:solidFill>
          <a:ln/>
        </p:spPr>
      </p:sp>
      <p:pic>
        <p:nvPicPr>
          <p:cNvPr id="4" name="Image 0" descr="preencoded.png">    </p:cNvPr>
          <p:cNvPicPr>
            <a:picLocks noChangeAspect="1"/>
          </p:cNvPicPr>
          <p:nvPr/>
        </p:nvPicPr>
        <p:blipFill>
          <a:blip r:embed="rId1"/>
          <a:stretch>
            <a:fillRect/>
          </a:stretch>
        </p:blipFill>
        <p:spPr>
          <a:xfrm>
            <a:off x="690372" y="1559052"/>
            <a:ext cx="283464" cy="283464"/>
          </a:xfrm>
          <a:prstGeom prst="rect">
            <a:avLst/>
          </a:prstGeom>
        </p:spPr>
      </p:pic>
      <p:sp>
        <p:nvSpPr>
          <p:cNvPr id="5" name="Text 2"/>
          <p:cNvSpPr txBox="1"/>
          <p:nvPr/>
        </p:nvSpPr>
        <p:spPr>
          <a:xfrm>
            <a:off x="1325880" y="1371600"/>
            <a:ext cx="5394960" cy="384048"/>
          </a:xfrm>
          <a:prstGeom prst="rect">
            <a:avLst/>
          </a:prstGeom>
          <a:noFill/>
          <a:ln/>
        </p:spPr>
        <p:txBody>
          <a:bodyPr wrap="square" lIns="0" tIns="0" rIns="0" bIns="0" rtlCol="0" anchor="ctr"/>
          <a:lstStyle/>
          <a:p>
            <a:pPr indent="0" marL="0">
              <a:buNone/>
            </a:pPr>
            <a:r>
              <a:rPr lang="en-US" sz="1800" b="1" dirty="0">
                <a:solidFill>
                  <a:schemeClr val="tx2"/>
                </a:solidFill>
              </a:rPr>
              <a:t>Ek güvenlik</a:t>
            </a:r>
            <a:endParaRPr lang="en-US" sz="1800" dirty="0"/>
          </a:p>
        </p:txBody>
      </p:sp>
      <p:sp>
        <p:nvSpPr>
          <p:cNvPr id="6" name="Text 3"/>
          <p:cNvSpPr txBox="1"/>
          <p:nvPr/>
        </p:nvSpPr>
        <p:spPr>
          <a:xfrm>
            <a:off x="1325880" y="1783080"/>
            <a:ext cx="5394960" cy="1097280"/>
          </a:xfrm>
          <a:prstGeom prst="rect">
            <a:avLst/>
          </a:prstGeom>
          <a:noFill/>
          <a:ln/>
        </p:spPr>
        <p:txBody>
          <a:bodyPr wrap="square" lIns="0" tIns="0" rIns="0" bIns="0" rtlCol="0" anchor="t"/>
          <a:lstStyle/>
          <a:p>
            <a:pPr indent="0" marL="0">
              <a:buNone/>
            </a:pPr>
            <a:r>
              <a:rPr lang="en-US" sz="1400" dirty="0">
                <a:solidFill>
                  <a:schemeClr val="tx1"/>
                </a:solidFill>
              </a:rPr>
              <a:t>Önceki robot destekli post sökümü olgusunda (Wang ve ark.) rubber dam kullanılmamıştı. Dam, ani hasta hareketi gibi acil durumlarda ek koruma sağlar ve hekime tepki süresi kazandırır</a:t>
            </a:r>
            <a:endParaRPr lang="en-US" sz="1400" dirty="0"/>
          </a:p>
        </p:txBody>
      </p:sp>
      <p:sp>
        <p:nvSpPr>
          <p:cNvPr id="7" name="Shape 4"/>
          <p:cNvSpPr/>
          <p:nvPr/>
        </p:nvSpPr>
        <p:spPr>
          <a:xfrm>
            <a:off x="548640" y="3017520"/>
            <a:ext cx="566928" cy="566928"/>
          </a:xfrm>
          <a:prstGeom prst="ellipse">
            <a:avLst/>
          </a:prstGeom>
          <a:solidFill>
            <a:schemeClr val="accent1"/>
          </a:solidFill>
          <a:ln/>
        </p:spPr>
      </p:sp>
      <p:pic>
        <p:nvPicPr>
          <p:cNvPr id="8" name="Image 1" descr="preencoded.png">    </p:cNvPr>
          <p:cNvPicPr>
            <a:picLocks noChangeAspect="1"/>
          </p:cNvPicPr>
          <p:nvPr/>
        </p:nvPicPr>
        <p:blipFill>
          <a:blip r:embed="rId2"/>
          <a:stretch>
            <a:fillRect/>
          </a:stretch>
        </p:blipFill>
        <p:spPr>
          <a:xfrm>
            <a:off x="690372" y="3159252"/>
            <a:ext cx="283464" cy="283464"/>
          </a:xfrm>
          <a:prstGeom prst="rect">
            <a:avLst/>
          </a:prstGeom>
        </p:spPr>
      </p:pic>
      <p:sp>
        <p:nvSpPr>
          <p:cNvPr id="9" name="Text 5"/>
          <p:cNvSpPr txBox="1"/>
          <p:nvPr/>
        </p:nvSpPr>
        <p:spPr>
          <a:xfrm>
            <a:off x="1325880" y="2971800"/>
            <a:ext cx="5394960" cy="384048"/>
          </a:xfrm>
          <a:prstGeom prst="rect">
            <a:avLst/>
          </a:prstGeom>
          <a:noFill/>
          <a:ln/>
        </p:spPr>
        <p:txBody>
          <a:bodyPr wrap="square" lIns="0" tIns="0" rIns="0" bIns="0" rtlCol="0" anchor="ctr"/>
          <a:lstStyle/>
          <a:p>
            <a:pPr indent="0" marL="0">
              <a:buNone/>
            </a:pPr>
            <a:r>
              <a:rPr lang="en-US" sz="1800" b="1" dirty="0">
                <a:solidFill>
                  <a:schemeClr val="tx2"/>
                </a:solidFill>
              </a:rPr>
              <a:t>Lateral kuvvetin azaltılması</a:t>
            </a:r>
            <a:endParaRPr lang="en-US" sz="1800" dirty="0"/>
          </a:p>
        </p:txBody>
      </p:sp>
      <p:sp>
        <p:nvSpPr>
          <p:cNvPr id="10" name="Text 6"/>
          <p:cNvSpPr txBox="1"/>
          <p:nvPr/>
        </p:nvSpPr>
        <p:spPr>
          <a:xfrm>
            <a:off x="1325880" y="3383280"/>
            <a:ext cx="5394960" cy="1097280"/>
          </a:xfrm>
          <a:prstGeom prst="rect">
            <a:avLst/>
          </a:prstGeom>
          <a:noFill/>
          <a:ln/>
        </p:spPr>
        <p:txBody>
          <a:bodyPr wrap="square" lIns="0" tIns="0" rIns="0" bIns="0" rtlCol="0" anchor="t"/>
          <a:lstStyle/>
          <a:p>
            <a:pPr indent="0" marL="0">
              <a:buNone/>
            </a:pPr>
            <a:r>
              <a:rPr lang="en-US" sz="1400" dirty="0">
                <a:solidFill>
                  <a:schemeClr val="tx1"/>
                </a:solidFill>
              </a:rPr>
              <a:t>Lateral kuvvet robotik sapmaya yol açar; esnek damın direncini azaltmak için #14 ve #18 dişlere (FDI 26 ve 37) iki kroşe takıldı</a:t>
            </a:r>
            <a:endParaRPr lang="en-US" sz="1400" dirty="0"/>
          </a:p>
        </p:txBody>
      </p:sp>
      <p:sp>
        <p:nvSpPr>
          <p:cNvPr id="11" name="Shape 7"/>
          <p:cNvSpPr/>
          <p:nvPr/>
        </p:nvSpPr>
        <p:spPr>
          <a:xfrm>
            <a:off x="548640" y="4617720"/>
            <a:ext cx="566928" cy="566928"/>
          </a:xfrm>
          <a:prstGeom prst="ellipse">
            <a:avLst/>
          </a:prstGeom>
          <a:solidFill>
            <a:schemeClr val="accent1"/>
          </a:solidFill>
          <a:ln/>
        </p:spPr>
      </p:sp>
      <p:pic>
        <p:nvPicPr>
          <p:cNvPr id="12" name="Image 2" descr="preencoded.png">    </p:cNvPr>
          <p:cNvPicPr>
            <a:picLocks noChangeAspect="1"/>
          </p:cNvPicPr>
          <p:nvPr/>
        </p:nvPicPr>
        <p:blipFill>
          <a:blip r:embed="rId3"/>
          <a:stretch>
            <a:fillRect/>
          </a:stretch>
        </p:blipFill>
        <p:spPr>
          <a:xfrm>
            <a:off x="690372" y="4759452"/>
            <a:ext cx="283464" cy="283464"/>
          </a:xfrm>
          <a:prstGeom prst="rect">
            <a:avLst/>
          </a:prstGeom>
        </p:spPr>
      </p:pic>
      <p:sp>
        <p:nvSpPr>
          <p:cNvPr id="13" name="Text 8"/>
          <p:cNvSpPr txBox="1"/>
          <p:nvPr/>
        </p:nvSpPr>
        <p:spPr>
          <a:xfrm>
            <a:off x="1325880" y="4572000"/>
            <a:ext cx="5394960" cy="384048"/>
          </a:xfrm>
          <a:prstGeom prst="rect">
            <a:avLst/>
          </a:prstGeom>
          <a:noFill/>
          <a:ln/>
        </p:spPr>
        <p:txBody>
          <a:bodyPr wrap="square" lIns="0" tIns="0" rIns="0" bIns="0" rtlCol="0" anchor="ctr"/>
          <a:lstStyle/>
          <a:p>
            <a:pPr indent="0" marL="0">
              <a:buNone/>
            </a:pPr>
            <a:r>
              <a:rPr lang="en-US" sz="1800" b="1" dirty="0">
                <a:solidFill>
                  <a:schemeClr val="tx2"/>
                </a:solidFill>
              </a:rPr>
              <a:t>Aparatlarla uyum</a:t>
            </a:r>
            <a:endParaRPr lang="en-US" sz="1800" dirty="0"/>
          </a:p>
        </p:txBody>
      </p:sp>
      <p:sp>
        <p:nvSpPr>
          <p:cNvPr id="14" name="Text 9"/>
          <p:cNvSpPr txBox="1"/>
          <p:nvPr/>
        </p:nvSpPr>
        <p:spPr>
          <a:xfrm>
            <a:off x="1325880" y="4983480"/>
            <a:ext cx="5394960" cy="1097280"/>
          </a:xfrm>
          <a:prstGeom prst="rect">
            <a:avLst/>
          </a:prstGeom>
          <a:noFill/>
          <a:ln/>
        </p:spPr>
        <p:txBody>
          <a:bodyPr wrap="square" lIns="0" tIns="0" rIns="0" bIns="0" rtlCol="0" anchor="t"/>
          <a:lstStyle/>
          <a:p>
            <a:pPr indent="0" marL="0">
              <a:buNone/>
            </a:pPr>
            <a:r>
              <a:rPr lang="en-US" sz="1400" dirty="0">
                <a:solidFill>
                  <a:schemeClr val="tx1"/>
                </a:solidFill>
              </a:rPr>
              <a:t>Kayıt aparatının kenar hattı, ağız içi tarama görüntüsünde dişeti kenarının üzerinde kişiye özel tasarlanmalı</a:t>
            </a:r>
            <a:endParaRPr lang="en-US" sz="1400" dirty="0"/>
          </a:p>
        </p:txBody>
      </p:sp>
      <p:pic>
        <p:nvPicPr>
          <p:cNvPr id="15" name="Şekil 2I" descr="Makaledeki Şekil 2I">    </p:cNvPr>
          <p:cNvPicPr>
            <a:picLocks noChangeAspect="1"/>
          </p:cNvPicPr>
          <p:nvPr/>
        </p:nvPicPr>
        <p:blipFill>
          <a:blip r:embed="rId4"/>
          <a:stretch>
            <a:fillRect/>
          </a:stretch>
        </p:blipFill>
        <p:spPr>
          <a:xfrm>
            <a:off x="7040880" y="2097214"/>
            <a:ext cx="4572000" cy="3029332"/>
          </a:xfrm>
          <a:prstGeom prst="rect">
            <a:avLst/>
          </a:prstGeom>
          <a:effectLst>
            <a:outerShdw sx="100000" sy="100000" kx="0" ky="0" algn="bl" rotWithShape="0" blurRad="76200" dist="25400" dir="5400000">
              <a:srgbClr val="000000">
                <a:alpha val="18000"/>
              </a:srgbClr>
            </a:outerShdw>
          </a:effectLst>
        </p:spPr>
      </p:pic>
      <p:sp>
        <p:nvSpPr>
          <p:cNvPr id="16" name="Text 10"/>
          <p:cNvSpPr txBox="1"/>
          <p:nvPr/>
        </p:nvSpPr>
        <p:spPr>
          <a:xfrm>
            <a:off x="7040880" y="5943600"/>
            <a:ext cx="4572000" cy="292608"/>
          </a:xfrm>
          <a:prstGeom prst="rect">
            <a:avLst/>
          </a:prstGeom>
          <a:noFill/>
          <a:ln/>
        </p:spPr>
        <p:txBody>
          <a:bodyPr wrap="square" lIns="0" tIns="0" rIns="0" bIns="0" rtlCol="0" anchor="ctr"/>
          <a:lstStyle/>
          <a:p>
            <a:pPr algn="ctr" indent="0" marL="0">
              <a:buNone/>
            </a:pPr>
            <a:r>
              <a:rPr lang="en-US" sz="1100" i="1" dirty="0">
                <a:solidFill>
                  <a:schemeClr val="accent5"/>
                </a:solidFill>
              </a:rPr>
              <a:t>İki kroşe ile rubber dam izolasyonu (Şekil 2I)</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mj-lt" pitchFamily="34" charset="0"/>
                <a:ea typeface="+mj-lt" pitchFamily="34" charset="-122"/>
                <a:cs typeface="+mj-lt" pitchFamily="34" charset="-120"/>
              </a:rPr>
              <a:t>Sınırlamalar</a:t>
            </a:r>
            <a:endParaRPr lang="en-US" sz="3400" dirty="0"/>
          </a:p>
        </p:txBody>
      </p:sp>
      <p:sp>
        <p:nvSpPr>
          <p:cNvPr id="3" name="Shape 1"/>
          <p:cNvSpPr/>
          <p:nvPr/>
        </p:nvSpPr>
        <p:spPr>
          <a:xfrm>
            <a:off x="548640" y="1417320"/>
            <a:ext cx="566928" cy="566928"/>
          </a:xfrm>
          <a:prstGeom prst="ellipse">
            <a:avLst/>
          </a:prstGeom>
          <a:solidFill>
            <a:schemeClr val="accent4"/>
          </a:solidFill>
          <a:ln/>
        </p:spPr>
      </p:sp>
      <p:pic>
        <p:nvPicPr>
          <p:cNvPr id="4" name="Image 0" descr="preencoded.png">    </p:cNvPr>
          <p:cNvPicPr>
            <a:picLocks noChangeAspect="1"/>
          </p:cNvPicPr>
          <p:nvPr/>
        </p:nvPicPr>
        <p:blipFill>
          <a:blip r:embed="rId1"/>
          <a:stretch>
            <a:fillRect/>
          </a:stretch>
        </p:blipFill>
        <p:spPr>
          <a:xfrm>
            <a:off x="690372" y="1559052"/>
            <a:ext cx="283464" cy="283464"/>
          </a:xfrm>
          <a:prstGeom prst="rect">
            <a:avLst/>
          </a:prstGeom>
        </p:spPr>
      </p:pic>
      <p:sp>
        <p:nvSpPr>
          <p:cNvPr id="5" name="Text 2"/>
          <p:cNvSpPr txBox="1"/>
          <p:nvPr/>
        </p:nvSpPr>
        <p:spPr>
          <a:xfrm>
            <a:off x="1325880" y="1371600"/>
            <a:ext cx="4663440" cy="384048"/>
          </a:xfrm>
          <a:prstGeom prst="rect">
            <a:avLst/>
          </a:prstGeom>
          <a:noFill/>
          <a:ln/>
        </p:spPr>
        <p:txBody>
          <a:bodyPr wrap="square" lIns="0" tIns="0" rIns="0" bIns="0" rtlCol="0" anchor="ctr"/>
          <a:lstStyle/>
          <a:p>
            <a:pPr indent="0" marL="0">
              <a:buNone/>
            </a:pPr>
            <a:r>
              <a:rPr lang="en-US" sz="1800" b="1" dirty="0">
                <a:solidFill>
                  <a:schemeClr val="tx2"/>
                </a:solidFill>
              </a:rPr>
              <a:t>Karmaşık iş akışı</a:t>
            </a:r>
            <a:endParaRPr lang="en-US" sz="1800" dirty="0"/>
          </a:p>
        </p:txBody>
      </p:sp>
      <p:sp>
        <p:nvSpPr>
          <p:cNvPr id="6" name="Text 3"/>
          <p:cNvSpPr txBox="1"/>
          <p:nvPr/>
        </p:nvSpPr>
        <p:spPr>
          <a:xfrm>
            <a:off x="1325880" y="1783080"/>
            <a:ext cx="4663440" cy="914400"/>
          </a:xfrm>
          <a:prstGeom prst="rect">
            <a:avLst/>
          </a:prstGeom>
          <a:noFill/>
          <a:ln/>
        </p:spPr>
        <p:txBody>
          <a:bodyPr wrap="square" lIns="0" tIns="0" rIns="0" bIns="0" rtlCol="0" anchor="t"/>
          <a:lstStyle/>
          <a:p>
            <a:pPr indent="0" marL="0">
              <a:buNone/>
            </a:pPr>
            <a:r>
              <a:rPr lang="en-US" sz="1400" dirty="0">
                <a:solidFill>
                  <a:schemeClr val="tx1"/>
                </a:solidFill>
              </a:rPr>
              <a:t>CBCT, tarama, sanal planlama ve 3B baskı – her adım hata olasılığını artırır</a:t>
            </a:r>
            <a:endParaRPr lang="en-US" sz="1400" dirty="0"/>
          </a:p>
        </p:txBody>
      </p:sp>
      <p:sp>
        <p:nvSpPr>
          <p:cNvPr id="7" name="Shape 4"/>
          <p:cNvSpPr/>
          <p:nvPr/>
        </p:nvSpPr>
        <p:spPr>
          <a:xfrm>
            <a:off x="548640" y="2926080"/>
            <a:ext cx="566928" cy="566928"/>
          </a:xfrm>
          <a:prstGeom prst="ellipse">
            <a:avLst/>
          </a:prstGeom>
          <a:solidFill>
            <a:schemeClr val="accent4"/>
          </a:solidFill>
          <a:ln/>
        </p:spPr>
      </p:sp>
      <p:pic>
        <p:nvPicPr>
          <p:cNvPr id="8" name="Image 1" descr="preencoded.png">    </p:cNvPr>
          <p:cNvPicPr>
            <a:picLocks noChangeAspect="1"/>
          </p:cNvPicPr>
          <p:nvPr/>
        </p:nvPicPr>
        <p:blipFill>
          <a:blip r:embed="rId2"/>
          <a:stretch>
            <a:fillRect/>
          </a:stretch>
        </p:blipFill>
        <p:spPr>
          <a:xfrm>
            <a:off x="690372" y="3067812"/>
            <a:ext cx="283464" cy="283464"/>
          </a:xfrm>
          <a:prstGeom prst="rect">
            <a:avLst/>
          </a:prstGeom>
        </p:spPr>
      </p:pic>
      <p:sp>
        <p:nvSpPr>
          <p:cNvPr id="9" name="Text 5"/>
          <p:cNvSpPr txBox="1"/>
          <p:nvPr/>
        </p:nvSpPr>
        <p:spPr>
          <a:xfrm>
            <a:off x="1325880" y="2880360"/>
            <a:ext cx="4663440" cy="384048"/>
          </a:xfrm>
          <a:prstGeom prst="rect">
            <a:avLst/>
          </a:prstGeom>
          <a:noFill/>
          <a:ln/>
        </p:spPr>
        <p:txBody>
          <a:bodyPr wrap="square" lIns="0" tIns="0" rIns="0" bIns="0" rtlCol="0" anchor="ctr"/>
          <a:lstStyle/>
          <a:p>
            <a:pPr indent="0" marL="0">
              <a:buNone/>
            </a:pPr>
            <a:r>
              <a:rPr lang="en-US" sz="1800" b="1" dirty="0">
                <a:solidFill>
                  <a:schemeClr val="tx2"/>
                </a:solidFill>
              </a:rPr>
              <a:t>Uzayan koltuk süresi</a:t>
            </a:r>
            <a:endParaRPr lang="en-US" sz="1800" dirty="0"/>
          </a:p>
        </p:txBody>
      </p:sp>
      <p:sp>
        <p:nvSpPr>
          <p:cNvPr id="10" name="Text 6"/>
          <p:cNvSpPr txBox="1"/>
          <p:nvPr/>
        </p:nvSpPr>
        <p:spPr>
          <a:xfrm>
            <a:off x="1325880" y="3291840"/>
            <a:ext cx="4663440" cy="914400"/>
          </a:xfrm>
          <a:prstGeom prst="rect">
            <a:avLst/>
          </a:prstGeom>
          <a:noFill/>
          <a:ln/>
        </p:spPr>
        <p:txBody>
          <a:bodyPr wrap="square" lIns="0" tIns="0" rIns="0" bIns="0" rtlCol="0" anchor="t"/>
          <a:lstStyle/>
          <a:p>
            <a:pPr indent="0" marL="0">
              <a:buNone/>
            </a:pPr>
            <a:r>
              <a:rPr lang="en-US" sz="1400" dirty="0">
                <a:solidFill>
                  <a:schemeClr val="tx1"/>
                </a:solidFill>
              </a:rPr>
              <a:t>İki farklı başlık iki ayrı kayıt gerektirir; hasta memnuniyetini düşürebilir</a:t>
            </a:r>
            <a:endParaRPr lang="en-US" sz="1400" dirty="0"/>
          </a:p>
        </p:txBody>
      </p:sp>
      <p:sp>
        <p:nvSpPr>
          <p:cNvPr id="11" name="Shape 7"/>
          <p:cNvSpPr/>
          <p:nvPr/>
        </p:nvSpPr>
        <p:spPr>
          <a:xfrm>
            <a:off x="548640" y="4434840"/>
            <a:ext cx="566928" cy="566928"/>
          </a:xfrm>
          <a:prstGeom prst="ellipse">
            <a:avLst/>
          </a:prstGeom>
          <a:solidFill>
            <a:schemeClr val="accent4"/>
          </a:solidFill>
          <a:ln/>
        </p:spPr>
      </p:sp>
      <p:pic>
        <p:nvPicPr>
          <p:cNvPr id="12" name="Image 2" descr="preencoded.png">    </p:cNvPr>
          <p:cNvPicPr>
            <a:picLocks noChangeAspect="1"/>
          </p:cNvPicPr>
          <p:nvPr/>
        </p:nvPicPr>
        <p:blipFill>
          <a:blip r:embed="rId3"/>
          <a:stretch>
            <a:fillRect/>
          </a:stretch>
        </p:blipFill>
        <p:spPr>
          <a:xfrm>
            <a:off x="690372" y="4576572"/>
            <a:ext cx="283464" cy="283464"/>
          </a:xfrm>
          <a:prstGeom prst="rect">
            <a:avLst/>
          </a:prstGeom>
        </p:spPr>
      </p:pic>
      <p:sp>
        <p:nvSpPr>
          <p:cNvPr id="13" name="Text 8"/>
          <p:cNvSpPr txBox="1"/>
          <p:nvPr/>
        </p:nvSpPr>
        <p:spPr>
          <a:xfrm>
            <a:off x="1325880" y="4389120"/>
            <a:ext cx="4663440" cy="384048"/>
          </a:xfrm>
          <a:prstGeom prst="rect">
            <a:avLst/>
          </a:prstGeom>
          <a:noFill/>
          <a:ln/>
        </p:spPr>
        <p:txBody>
          <a:bodyPr wrap="square" lIns="0" tIns="0" rIns="0" bIns="0" rtlCol="0" anchor="ctr"/>
          <a:lstStyle/>
          <a:p>
            <a:pPr indent="0" marL="0">
              <a:buNone/>
            </a:pPr>
            <a:r>
              <a:rPr lang="en-US" sz="1800" b="1" dirty="0">
                <a:solidFill>
                  <a:schemeClr val="tx2"/>
                </a:solidFill>
              </a:rPr>
              <a:t>Frez uzunluğu</a:t>
            </a:r>
            <a:endParaRPr lang="en-US" sz="1800" dirty="0"/>
          </a:p>
        </p:txBody>
      </p:sp>
      <p:sp>
        <p:nvSpPr>
          <p:cNvPr id="14" name="Text 9"/>
          <p:cNvSpPr txBox="1"/>
          <p:nvPr/>
        </p:nvSpPr>
        <p:spPr>
          <a:xfrm>
            <a:off x="1325880" y="4800600"/>
            <a:ext cx="4663440" cy="914400"/>
          </a:xfrm>
          <a:prstGeom prst="rect">
            <a:avLst/>
          </a:prstGeom>
          <a:noFill/>
          <a:ln/>
        </p:spPr>
        <p:txBody>
          <a:bodyPr wrap="square" lIns="0" tIns="0" rIns="0" bIns="0" rtlCol="0" anchor="t"/>
          <a:lstStyle/>
          <a:p>
            <a:pPr indent="0" marL="0">
              <a:buNone/>
            </a:pPr>
            <a:r>
              <a:rPr lang="en-US" sz="1400" dirty="0">
                <a:solidFill>
                  <a:schemeClr val="tx1"/>
                </a:solidFill>
              </a:rPr>
              <a:t>Freze dik hizalanma şartı nedeniyle uygun boyda ticari frez bulmak zor; posterior bölgede kısıt</a:t>
            </a:r>
            <a:endParaRPr lang="en-US" sz="1400" dirty="0"/>
          </a:p>
        </p:txBody>
      </p:sp>
      <p:sp>
        <p:nvSpPr>
          <p:cNvPr id="15" name="Shape 10"/>
          <p:cNvSpPr/>
          <p:nvPr/>
        </p:nvSpPr>
        <p:spPr>
          <a:xfrm>
            <a:off x="6172200" y="1417320"/>
            <a:ext cx="566928" cy="566928"/>
          </a:xfrm>
          <a:prstGeom prst="ellipse">
            <a:avLst/>
          </a:prstGeom>
          <a:solidFill>
            <a:schemeClr val="accent4"/>
          </a:solidFill>
          <a:ln/>
        </p:spPr>
      </p:sp>
      <p:pic>
        <p:nvPicPr>
          <p:cNvPr id="16" name="Image 3" descr="preencoded.png">    </p:cNvPr>
          <p:cNvPicPr>
            <a:picLocks noChangeAspect="1"/>
          </p:cNvPicPr>
          <p:nvPr/>
        </p:nvPicPr>
        <p:blipFill>
          <a:blip r:embed="rId4"/>
          <a:stretch>
            <a:fillRect/>
          </a:stretch>
        </p:blipFill>
        <p:spPr>
          <a:xfrm>
            <a:off x="6313932" y="1559052"/>
            <a:ext cx="283464" cy="283464"/>
          </a:xfrm>
          <a:prstGeom prst="rect">
            <a:avLst/>
          </a:prstGeom>
        </p:spPr>
      </p:pic>
      <p:sp>
        <p:nvSpPr>
          <p:cNvPr id="17" name="Text 11"/>
          <p:cNvSpPr txBox="1"/>
          <p:nvPr/>
        </p:nvSpPr>
        <p:spPr>
          <a:xfrm>
            <a:off x="6949440" y="1371600"/>
            <a:ext cx="4663440" cy="384048"/>
          </a:xfrm>
          <a:prstGeom prst="rect">
            <a:avLst/>
          </a:prstGeom>
          <a:noFill/>
          <a:ln/>
        </p:spPr>
        <p:txBody>
          <a:bodyPr wrap="square" lIns="0" tIns="0" rIns="0" bIns="0" rtlCol="0" anchor="ctr"/>
          <a:lstStyle/>
          <a:p>
            <a:pPr indent="0" marL="0">
              <a:buNone/>
            </a:pPr>
            <a:r>
              <a:rPr lang="en-US" sz="1800" b="1" dirty="0">
                <a:solidFill>
                  <a:schemeClr val="tx2"/>
                </a:solidFill>
              </a:rPr>
              <a:t>Yüksek maliyet</a:t>
            </a:r>
            <a:endParaRPr lang="en-US" sz="1800" dirty="0"/>
          </a:p>
        </p:txBody>
      </p:sp>
      <p:sp>
        <p:nvSpPr>
          <p:cNvPr id="18" name="Text 12"/>
          <p:cNvSpPr txBox="1"/>
          <p:nvPr/>
        </p:nvSpPr>
        <p:spPr>
          <a:xfrm>
            <a:off x="6949440" y="1783080"/>
            <a:ext cx="4663440" cy="914400"/>
          </a:xfrm>
          <a:prstGeom prst="rect">
            <a:avLst/>
          </a:prstGeom>
          <a:noFill/>
          <a:ln/>
        </p:spPr>
        <p:txBody>
          <a:bodyPr wrap="square" lIns="0" tIns="0" rIns="0" bIns="0" rtlCol="0" anchor="t"/>
          <a:lstStyle/>
          <a:p>
            <a:pPr indent="0" marL="0">
              <a:buNone/>
            </a:pPr>
            <a:r>
              <a:rPr lang="en-US" sz="1400" dirty="0">
                <a:solidFill>
                  <a:schemeClr val="tx1"/>
                </a:solidFill>
              </a:rPr>
              <a:t>Cihaz için gereken büyük ilk yatırım yaygınlaşmayı sınırlar</a:t>
            </a:r>
            <a:endParaRPr lang="en-US" sz="1400" dirty="0"/>
          </a:p>
        </p:txBody>
      </p:sp>
      <p:sp>
        <p:nvSpPr>
          <p:cNvPr id="19" name="Shape 13"/>
          <p:cNvSpPr/>
          <p:nvPr/>
        </p:nvSpPr>
        <p:spPr>
          <a:xfrm>
            <a:off x="6172200" y="2926080"/>
            <a:ext cx="566928" cy="566928"/>
          </a:xfrm>
          <a:prstGeom prst="ellipse">
            <a:avLst/>
          </a:prstGeom>
          <a:solidFill>
            <a:schemeClr val="accent4"/>
          </a:solidFill>
          <a:ln/>
        </p:spPr>
      </p:sp>
      <p:pic>
        <p:nvPicPr>
          <p:cNvPr id="20" name="Image 4" descr="preencoded.png">    </p:cNvPr>
          <p:cNvPicPr>
            <a:picLocks noChangeAspect="1"/>
          </p:cNvPicPr>
          <p:nvPr/>
        </p:nvPicPr>
        <p:blipFill>
          <a:blip r:embed="rId5"/>
          <a:stretch>
            <a:fillRect/>
          </a:stretch>
        </p:blipFill>
        <p:spPr>
          <a:xfrm>
            <a:off x="6313932" y="3067812"/>
            <a:ext cx="283464" cy="283464"/>
          </a:xfrm>
          <a:prstGeom prst="rect">
            <a:avLst/>
          </a:prstGeom>
        </p:spPr>
      </p:pic>
      <p:sp>
        <p:nvSpPr>
          <p:cNvPr id="21" name="Text 14"/>
          <p:cNvSpPr txBox="1"/>
          <p:nvPr/>
        </p:nvSpPr>
        <p:spPr>
          <a:xfrm>
            <a:off x="6949440" y="2880360"/>
            <a:ext cx="4663440" cy="384048"/>
          </a:xfrm>
          <a:prstGeom prst="rect">
            <a:avLst/>
          </a:prstGeom>
          <a:noFill/>
          <a:ln/>
        </p:spPr>
        <p:txBody>
          <a:bodyPr wrap="square" lIns="0" tIns="0" rIns="0" bIns="0" rtlCol="0" anchor="ctr"/>
          <a:lstStyle/>
          <a:p>
            <a:pPr indent="0" marL="0">
              <a:buNone/>
            </a:pPr>
            <a:r>
              <a:rPr lang="en-US" sz="1800" b="1" dirty="0">
                <a:solidFill>
                  <a:schemeClr val="tx2"/>
                </a:solidFill>
              </a:rPr>
              <a:t>Deneyime dayalı eşikler</a:t>
            </a:r>
            <a:endParaRPr lang="en-US" sz="1800" dirty="0"/>
          </a:p>
        </p:txBody>
      </p:sp>
      <p:sp>
        <p:nvSpPr>
          <p:cNvPr id="22" name="Text 15"/>
          <p:cNvSpPr txBox="1"/>
          <p:nvPr/>
        </p:nvSpPr>
        <p:spPr>
          <a:xfrm>
            <a:off x="6949440" y="3291840"/>
            <a:ext cx="4663440" cy="914400"/>
          </a:xfrm>
          <a:prstGeom prst="rect">
            <a:avLst/>
          </a:prstGeom>
          <a:noFill/>
          <a:ln/>
        </p:spPr>
        <p:txBody>
          <a:bodyPr wrap="square" lIns="0" tIns="0" rIns="0" bIns="0" rtlCol="0" anchor="t"/>
          <a:lstStyle/>
          <a:p>
            <a:pPr indent="0" marL="0">
              <a:buNone/>
            </a:pPr>
            <a:r>
              <a:rPr lang="en-US" sz="1400" dirty="0">
                <a:solidFill>
                  <a:schemeClr val="tx1"/>
                </a:solidFill>
              </a:rPr>
              <a:t>Kuvvet/mesafe eşikleri ve izolasyon yöntemi yalnızca in vitro model deneyimine dayanıyor</a:t>
            </a:r>
            <a:endParaRPr lang="en-US" sz="1400" dirty="0"/>
          </a:p>
        </p:txBody>
      </p:sp>
      <p:sp>
        <p:nvSpPr>
          <p:cNvPr id="23" name="Shape 16"/>
          <p:cNvSpPr/>
          <p:nvPr/>
        </p:nvSpPr>
        <p:spPr>
          <a:xfrm>
            <a:off x="6172200" y="4434840"/>
            <a:ext cx="5440680" cy="1463040"/>
          </a:xfrm>
          <a:prstGeom prst="roundRect">
            <a:avLst>
              <a:gd name="adj" fmla="val 7500"/>
            </a:avLst>
          </a:prstGeom>
          <a:solidFill>
            <a:schemeClr val="tx2"/>
          </a:solidFill>
          <a:ln/>
        </p:spPr>
      </p:sp>
      <p:sp>
        <p:nvSpPr>
          <p:cNvPr id="24" name="Text 17"/>
          <p:cNvSpPr txBox="1"/>
          <p:nvPr/>
        </p:nvSpPr>
        <p:spPr>
          <a:xfrm>
            <a:off x="6446520" y="4526280"/>
            <a:ext cx="4892040" cy="1280160"/>
          </a:xfrm>
          <a:prstGeom prst="rect">
            <a:avLst/>
          </a:prstGeom>
          <a:noFill/>
          <a:ln/>
        </p:spPr>
        <p:txBody>
          <a:bodyPr wrap="square" lIns="0" tIns="0" rIns="0" bIns="0" rtlCol="0" anchor="ctr"/>
          <a:lstStyle/>
          <a:p>
            <a:pPr indent="0" marL="0">
              <a:buNone/>
            </a:pPr>
            <a:r>
              <a:rPr lang="en-US" sz="1600" b="1" dirty="0">
                <a:solidFill>
                  <a:schemeClr val="bg1"/>
                </a:solidFill>
              </a:rPr>
              <a:t>Gelecek: daha geniş frez yelpazesi, kullanıcı dostu sistemler ve standart protokoller</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640080" y="822960"/>
            <a:ext cx="6400800" cy="914400"/>
          </a:xfrm>
          <a:prstGeom prst="rect">
            <a:avLst/>
          </a:prstGeom>
          <a:noFill/>
          <a:ln/>
        </p:spPr>
        <p:txBody>
          <a:bodyPr wrap="square" lIns="0" tIns="0" rIns="0" bIns="0" rtlCol="0" anchor="ctr"/>
          <a:lstStyle/>
          <a:p>
            <a:pPr algn="l" indent="0" marL="0">
              <a:buNone/>
            </a:pPr>
            <a:r>
              <a:rPr lang="en-US" sz="4000" b="1" dirty="0">
                <a:solidFill>
                  <a:schemeClr val="bg1"/>
                </a:solidFill>
                <a:latin typeface="+mj-lt" pitchFamily="34" charset="0"/>
                <a:ea typeface="+mj-lt" pitchFamily="34" charset="-122"/>
                <a:cs typeface="+mj-lt" pitchFamily="34" charset="-120"/>
              </a:rPr>
              <a:t>Sonuç</a:t>
            </a:r>
            <a:endParaRPr lang="en-US" sz="4000" dirty="0"/>
          </a:p>
        </p:txBody>
      </p:sp>
      <p:sp>
        <p:nvSpPr>
          <p:cNvPr id="3" name="Text 1"/>
          <p:cNvSpPr txBox="1"/>
          <p:nvPr/>
        </p:nvSpPr>
        <p:spPr>
          <a:xfrm>
            <a:off x="640080" y="2011680"/>
            <a:ext cx="6400800" cy="3931920"/>
          </a:xfrm>
          <a:prstGeom prst="rect">
            <a:avLst/>
          </a:prstGeom>
          <a:noFill/>
          <a:ln/>
        </p:spPr>
        <p:txBody>
          <a:bodyPr wrap="square" lIns="0" tIns="0" rIns="0" bIns="0" rtlCol="0" anchor="t"/>
          <a:lstStyle/>
          <a:p>
            <a:pPr marL="203200" indent="-203200">
              <a:spcAft>
                <a:spcPts val="800"/>
              </a:spcAft>
              <a:buSzPct val="100000"/>
              <a:buChar char="•"/>
            </a:pPr>
            <a:r>
              <a:rPr lang="en-US" sz="1800" dirty="0">
                <a:solidFill>
                  <a:schemeClr val="bg1"/>
                </a:solidFill>
              </a:rPr>
              <a:t>Mevcut kuron korunarak robot destekli fiber post sökümü başarıyla uygulandı</a:t>
            </a:r>
            <a:endParaRPr lang="en-US" sz="1800" dirty="0"/>
          </a:p>
          <a:p>
            <a:pPr marL="203200" indent="-203200">
              <a:spcAft>
                <a:spcPts val="800"/>
              </a:spcAft>
              <a:buSzPct val="100000"/>
              <a:buChar char="•"/>
            </a:pPr>
            <a:r>
              <a:rPr lang="en-US" sz="1800" dirty="0">
                <a:solidFill>
                  <a:schemeClr val="bg1"/>
                </a:solidFill>
              </a:rPr>
              <a:t>Robot destekli cerrahi olmayan endodontik işlemler için bir protokolün temelleri atıldı</a:t>
            </a:r>
            <a:endParaRPr lang="en-US" sz="1800" dirty="0"/>
          </a:p>
          <a:p>
            <a:pPr marL="203200" indent="-203200">
              <a:spcAft>
                <a:spcPts val="800"/>
              </a:spcAft>
              <a:buSzPct val="100000"/>
              <a:buChar char="•"/>
            </a:pPr>
            <a:r>
              <a:rPr lang="en-US" sz="1800" dirty="0">
                <a:solidFill>
                  <a:schemeClr val="bg1"/>
                </a:solidFill>
              </a:rPr>
              <a:t>Robotik sistemler endodontiye otomasyon, güvenlik ve hassasiyet kazandırma potansiyeline sahip</a:t>
            </a:r>
            <a:endParaRPr lang="en-US" sz="1800" dirty="0"/>
          </a:p>
          <a:p>
            <a:pPr marL="203200" indent="-203200">
              <a:spcAft>
                <a:spcPts val="800"/>
              </a:spcAft>
              <a:buSzPct val="100000"/>
              <a:buChar char="•"/>
            </a:pPr>
            <a:r>
              <a:rPr lang="en-US" sz="1800" dirty="0">
                <a:solidFill>
                  <a:schemeClr val="bg1"/>
                </a:solidFill>
              </a:rPr>
              <a:t>Uygun çeneler arası mesafesi olan diğer dişlerde de uygulanabilir; prosedürlerin sadeleştirilmesi için yeni çalışmalar gerekli</a:t>
            </a:r>
            <a:endParaRPr lang="en-US" sz="1800" dirty="0"/>
          </a:p>
        </p:txBody>
      </p:sp>
      <p:pic>
        <p:nvPicPr>
          <p:cNvPr id="4" name="Sonuç görseli" descr="2,5 aylık kontrol radyografisi (Şekil 3K)">    </p:cNvPr>
          <p:cNvPicPr>
            <a:picLocks noChangeAspect="1"/>
          </p:cNvPicPr>
          <p:nvPr/>
        </p:nvPicPr>
        <p:blipFill>
          <a:blip r:embed="rId1"/>
          <a:stretch>
            <a:fillRect/>
          </a:stretch>
        </p:blipFill>
        <p:spPr>
          <a:xfrm>
            <a:off x="7680960" y="1371600"/>
            <a:ext cx="3840480" cy="2976704"/>
          </a:xfrm>
          <a:prstGeom prst="rect">
            <a:avLst/>
          </a:prstGeom>
        </p:spPr>
      </p:pic>
      <p:sp>
        <p:nvSpPr>
          <p:cNvPr id="5" name="Text 2"/>
          <p:cNvSpPr txBox="1"/>
          <p:nvPr/>
        </p:nvSpPr>
        <p:spPr>
          <a:xfrm>
            <a:off x="7680960" y="4439744"/>
            <a:ext cx="3840480" cy="292608"/>
          </a:xfrm>
          <a:prstGeom prst="rect">
            <a:avLst/>
          </a:prstGeom>
          <a:noFill/>
          <a:ln/>
        </p:spPr>
        <p:txBody>
          <a:bodyPr wrap="square" lIns="0" tIns="0" rIns="0" bIns="0" rtlCol="0" anchor="ctr"/>
          <a:lstStyle/>
          <a:p>
            <a:pPr algn="ctr" indent="0" marL="0">
              <a:buNone/>
            </a:pPr>
            <a:r>
              <a:rPr lang="en-US" sz="1100" i="1" dirty="0">
                <a:solidFill>
                  <a:schemeClr val="accent3"/>
                </a:solidFill>
              </a:rPr>
              <a:t>2,5 aylık kontrol radyografisi (Şekil 3K)</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mj-lt" pitchFamily="34" charset="0"/>
                <a:ea typeface="+mj-lt" pitchFamily="34" charset="-122"/>
                <a:cs typeface="+mj-lt" pitchFamily="34" charset="-120"/>
              </a:rPr>
              <a:t>Kısaltmalar ve Kaynak</a:t>
            </a:r>
            <a:endParaRPr lang="en-US" sz="34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5852160" cy="914400"/>
        </p:xfrm>
        <a:graphic>
          <a:graphicData uri="http://schemas.openxmlformats.org/drawingml/2006/table">
            <a:tbl>
              <a:tblPr/>
              <a:tblGrid>
                <a:gridCol w="1828800"/>
                <a:gridCol w="4023360"/>
              </a:tblGrid>
              <a:tr h="457200">
                <a:tc>
                  <a:txBody>
                    <a:bodyPr/>
                    <a:lstStyle/>
                    <a:p>
                      <a:pPr indent="0" marL="0">
                        <a:buNone/>
                      </a:pPr>
                      <a:r>
                        <a:rPr lang="en-US" sz="1400" b="1" dirty="0">
                          <a:solidFill>
                            <a:schemeClr val="tx2"/>
                          </a:solidFill>
                        </a:rPr>
                        <a:t>ADR</a:t>
                      </a:r>
                      <a:endParaRPr lang="en-US" sz="1400" dirty="0"/>
                    </a:p>
                  </a:txBody>
                  <a:tcPr marL="91440" marR="91440" marT="45720" marB="45720" anchor="ctr">
                    <a:lnL w="9525" cap="flat" cmpd="sng" algn="ctr">
                      <a:solidFill>
                        <a:srgbClr val="8CC7C1"/>
                      </a:solidFill>
                      <a:prstDash val="solid"/>
                      <a:round/>
                      <a:headEnd type="none" w="med" len="med"/>
                      <a:tailEnd type="none" w="med" len="med"/>
                    </a:lnL>
                    <a:lnR w="9525" cap="flat" cmpd="sng" algn="ctr">
                      <a:solidFill>
                        <a:srgbClr val="8CC7C1"/>
                      </a:solidFill>
                      <a:prstDash val="solid"/>
                      <a:round/>
                      <a:headEnd type="none" w="med" len="med"/>
                      <a:tailEnd type="none" w="med" len="med"/>
                    </a:lnR>
                    <a:lnT w="9525" cap="flat" cmpd="sng" algn="ctr">
                      <a:solidFill>
                        <a:srgbClr val="8CC7C1"/>
                      </a:solidFill>
                      <a:prstDash val="solid"/>
                      <a:round/>
                      <a:headEnd type="none" w="med" len="med"/>
                      <a:tailEnd type="none" w="med" len="med"/>
                    </a:lnT>
                    <a:lnB w="9525" cap="flat" cmpd="sng" algn="ctr">
                      <a:solidFill>
                        <a:srgbClr val="8CC7C1"/>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Aktif dental robot sistemi</a:t>
                      </a:r>
                      <a:endParaRPr lang="en-US" sz="1400" dirty="0"/>
                    </a:p>
                  </a:txBody>
                  <a:tcPr marL="91440" marR="91440" marT="45720" marB="45720" anchor="ctr">
                    <a:lnL w="9525" cap="flat" cmpd="sng" algn="ctr">
                      <a:solidFill>
                        <a:srgbClr val="8CC7C1"/>
                      </a:solidFill>
                      <a:prstDash val="solid"/>
                      <a:round/>
                      <a:headEnd type="none" w="med" len="med"/>
                      <a:tailEnd type="none" w="med" len="med"/>
                    </a:lnL>
                    <a:lnR w="9525" cap="flat" cmpd="sng" algn="ctr">
                      <a:solidFill>
                        <a:srgbClr val="8CC7C1"/>
                      </a:solidFill>
                      <a:prstDash val="solid"/>
                      <a:round/>
                      <a:headEnd type="none" w="med" len="med"/>
                      <a:tailEnd type="none" w="med" len="med"/>
                    </a:lnR>
                    <a:lnT w="9525" cap="flat" cmpd="sng" algn="ctr">
                      <a:solidFill>
                        <a:srgbClr val="8CC7C1"/>
                      </a:solidFill>
                      <a:prstDash val="solid"/>
                      <a:round/>
                      <a:headEnd type="none" w="med" len="med"/>
                      <a:tailEnd type="none" w="med" len="med"/>
                    </a:lnT>
                    <a:lnB w="9525" cap="flat" cmpd="sng" algn="ctr">
                      <a:solidFill>
                        <a:srgbClr val="8CC7C1"/>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chemeClr val="tx2"/>
                          </a:solidFill>
                        </a:rPr>
                        <a:t>CBCT</a:t>
                      </a:r>
                      <a:endParaRPr lang="en-US" sz="1400" dirty="0"/>
                    </a:p>
                  </a:txBody>
                  <a:tcPr marL="91440" marR="91440" marT="45720" marB="45720" anchor="ctr">
                    <a:lnL w="9525" cap="flat" cmpd="sng" algn="ctr">
                      <a:solidFill>
                        <a:srgbClr val="8CC7C1"/>
                      </a:solidFill>
                      <a:prstDash val="solid"/>
                      <a:round/>
                      <a:headEnd type="none" w="med" len="med"/>
                      <a:tailEnd type="none" w="med" len="med"/>
                    </a:lnL>
                    <a:lnR w="9525" cap="flat" cmpd="sng" algn="ctr">
                      <a:solidFill>
                        <a:srgbClr val="8CC7C1"/>
                      </a:solidFill>
                      <a:prstDash val="solid"/>
                      <a:round/>
                      <a:headEnd type="none" w="med" len="med"/>
                      <a:tailEnd type="none" w="med" len="med"/>
                    </a:lnR>
                    <a:lnT w="9525" cap="flat" cmpd="sng" algn="ctr">
                      <a:solidFill>
                        <a:srgbClr val="8CC7C1"/>
                      </a:solidFill>
                      <a:prstDash val="solid"/>
                      <a:round/>
                      <a:headEnd type="none" w="med" len="med"/>
                      <a:tailEnd type="none" w="med" len="med"/>
                    </a:lnT>
                    <a:lnB w="9525" cap="flat" cmpd="sng" algn="ctr">
                      <a:solidFill>
                        <a:srgbClr val="8CC7C1"/>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Konik ışınlı bilgisayarlı tomografi</a:t>
                      </a:r>
                      <a:endParaRPr lang="en-US" sz="1400" dirty="0"/>
                    </a:p>
                  </a:txBody>
                  <a:tcPr marL="91440" marR="91440" marT="45720" marB="45720" anchor="ctr">
                    <a:lnL w="9525" cap="flat" cmpd="sng" algn="ctr">
                      <a:solidFill>
                        <a:srgbClr val="8CC7C1"/>
                      </a:solidFill>
                      <a:prstDash val="solid"/>
                      <a:round/>
                      <a:headEnd type="none" w="med" len="med"/>
                      <a:tailEnd type="none" w="med" len="med"/>
                    </a:lnL>
                    <a:lnR w="9525" cap="flat" cmpd="sng" algn="ctr">
                      <a:solidFill>
                        <a:srgbClr val="8CC7C1"/>
                      </a:solidFill>
                      <a:prstDash val="solid"/>
                      <a:round/>
                      <a:headEnd type="none" w="med" len="med"/>
                      <a:tailEnd type="none" w="med" len="med"/>
                    </a:lnR>
                    <a:lnT w="9525" cap="flat" cmpd="sng" algn="ctr">
                      <a:solidFill>
                        <a:srgbClr val="8CC7C1"/>
                      </a:solidFill>
                      <a:prstDash val="solid"/>
                      <a:round/>
                      <a:headEnd type="none" w="med" len="med"/>
                      <a:tailEnd type="none" w="med" len="med"/>
                    </a:lnT>
                    <a:lnB w="9525" cap="flat" cmpd="sng" algn="ctr">
                      <a:solidFill>
                        <a:srgbClr val="8CC7C1"/>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chemeClr val="tx2"/>
                          </a:solidFill>
                        </a:rPr>
                        <a:t>EMS</a:t>
                      </a:r>
                      <a:endParaRPr lang="en-US" sz="1400" dirty="0"/>
                    </a:p>
                  </a:txBody>
                  <a:tcPr marL="91440" marR="91440" marT="45720" marB="45720" anchor="ctr">
                    <a:lnL w="9525" cap="flat" cmpd="sng" algn="ctr">
                      <a:solidFill>
                        <a:srgbClr val="8CC7C1"/>
                      </a:solidFill>
                      <a:prstDash val="solid"/>
                      <a:round/>
                      <a:headEnd type="none" w="med" len="med"/>
                      <a:tailEnd type="none" w="med" len="med"/>
                    </a:lnL>
                    <a:lnR w="9525" cap="flat" cmpd="sng" algn="ctr">
                      <a:solidFill>
                        <a:srgbClr val="8CC7C1"/>
                      </a:solidFill>
                      <a:prstDash val="solid"/>
                      <a:round/>
                      <a:headEnd type="none" w="med" len="med"/>
                      <a:tailEnd type="none" w="med" len="med"/>
                    </a:lnR>
                    <a:lnT w="9525" cap="flat" cmpd="sng" algn="ctr">
                      <a:solidFill>
                        <a:srgbClr val="8CC7C1"/>
                      </a:solidFill>
                      <a:prstDash val="solid"/>
                      <a:round/>
                      <a:headEnd type="none" w="med" len="med"/>
                      <a:tailEnd type="none" w="med" len="med"/>
                    </a:lnT>
                    <a:lnB w="9525" cap="flat" cmpd="sng" algn="ctr">
                      <a:solidFill>
                        <a:srgbClr val="8CC7C1"/>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Endodontik mikrocerrahi</a:t>
                      </a:r>
                      <a:endParaRPr lang="en-US" sz="1400" dirty="0"/>
                    </a:p>
                  </a:txBody>
                  <a:tcPr marL="91440" marR="91440" marT="45720" marB="45720" anchor="ctr">
                    <a:lnL w="9525" cap="flat" cmpd="sng" algn="ctr">
                      <a:solidFill>
                        <a:srgbClr val="8CC7C1"/>
                      </a:solidFill>
                      <a:prstDash val="solid"/>
                      <a:round/>
                      <a:headEnd type="none" w="med" len="med"/>
                      <a:tailEnd type="none" w="med" len="med"/>
                    </a:lnL>
                    <a:lnR w="9525" cap="flat" cmpd="sng" algn="ctr">
                      <a:solidFill>
                        <a:srgbClr val="8CC7C1"/>
                      </a:solidFill>
                      <a:prstDash val="solid"/>
                      <a:round/>
                      <a:headEnd type="none" w="med" len="med"/>
                      <a:tailEnd type="none" w="med" len="med"/>
                    </a:lnR>
                    <a:lnT w="9525" cap="flat" cmpd="sng" algn="ctr">
                      <a:solidFill>
                        <a:srgbClr val="8CC7C1"/>
                      </a:solidFill>
                      <a:prstDash val="solid"/>
                      <a:round/>
                      <a:headEnd type="none" w="med" len="med"/>
                      <a:tailEnd type="none" w="med" len="med"/>
                    </a:lnT>
                    <a:lnB w="9525" cap="flat" cmpd="sng" algn="ctr">
                      <a:solidFill>
                        <a:srgbClr val="8CC7C1"/>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chemeClr val="tx2"/>
                          </a:solidFill>
                        </a:rPr>
                        <a:t>SN / DN</a:t>
                      </a:r>
                      <a:endParaRPr lang="en-US" sz="1400" dirty="0"/>
                    </a:p>
                  </a:txBody>
                  <a:tcPr marL="91440" marR="91440" marT="45720" marB="45720" anchor="ctr">
                    <a:lnL w="9525" cap="flat" cmpd="sng" algn="ctr">
                      <a:solidFill>
                        <a:srgbClr val="8CC7C1"/>
                      </a:solidFill>
                      <a:prstDash val="solid"/>
                      <a:round/>
                      <a:headEnd type="none" w="med" len="med"/>
                      <a:tailEnd type="none" w="med" len="med"/>
                    </a:lnL>
                    <a:lnR w="9525" cap="flat" cmpd="sng" algn="ctr">
                      <a:solidFill>
                        <a:srgbClr val="8CC7C1"/>
                      </a:solidFill>
                      <a:prstDash val="solid"/>
                      <a:round/>
                      <a:headEnd type="none" w="med" len="med"/>
                      <a:tailEnd type="none" w="med" len="med"/>
                    </a:lnR>
                    <a:lnT w="9525" cap="flat" cmpd="sng" algn="ctr">
                      <a:solidFill>
                        <a:srgbClr val="8CC7C1"/>
                      </a:solidFill>
                      <a:prstDash val="solid"/>
                      <a:round/>
                      <a:headEnd type="none" w="med" len="med"/>
                      <a:tailEnd type="none" w="med" len="med"/>
                    </a:lnT>
                    <a:lnB w="9525" cap="flat" cmpd="sng" algn="ctr">
                      <a:solidFill>
                        <a:srgbClr val="8CC7C1"/>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Statik / dinamik navigasyon</a:t>
                      </a:r>
                      <a:endParaRPr lang="en-US" sz="1400" dirty="0"/>
                    </a:p>
                  </a:txBody>
                  <a:tcPr marL="91440" marR="91440" marT="45720" marB="45720" anchor="ctr">
                    <a:lnL w="9525" cap="flat" cmpd="sng" algn="ctr">
                      <a:solidFill>
                        <a:srgbClr val="8CC7C1"/>
                      </a:solidFill>
                      <a:prstDash val="solid"/>
                      <a:round/>
                      <a:headEnd type="none" w="med" len="med"/>
                      <a:tailEnd type="none" w="med" len="med"/>
                    </a:lnL>
                    <a:lnR w="9525" cap="flat" cmpd="sng" algn="ctr">
                      <a:solidFill>
                        <a:srgbClr val="8CC7C1"/>
                      </a:solidFill>
                      <a:prstDash val="solid"/>
                      <a:round/>
                      <a:headEnd type="none" w="med" len="med"/>
                      <a:tailEnd type="none" w="med" len="med"/>
                    </a:lnR>
                    <a:lnT w="9525" cap="flat" cmpd="sng" algn="ctr">
                      <a:solidFill>
                        <a:srgbClr val="8CC7C1"/>
                      </a:solidFill>
                      <a:prstDash val="solid"/>
                      <a:round/>
                      <a:headEnd type="none" w="med" len="med"/>
                      <a:tailEnd type="none" w="med" len="med"/>
                    </a:lnT>
                    <a:lnB w="9525" cap="flat" cmpd="sng" algn="ctr">
                      <a:solidFill>
                        <a:srgbClr val="8CC7C1"/>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chemeClr val="tx2"/>
                          </a:solidFill>
                        </a:rPr>
                        <a:t>NaOCl</a:t>
                      </a:r>
                      <a:endParaRPr lang="en-US" sz="1400" dirty="0"/>
                    </a:p>
                  </a:txBody>
                  <a:tcPr marL="91440" marR="91440" marT="45720" marB="45720" anchor="ctr">
                    <a:lnL w="9525" cap="flat" cmpd="sng" algn="ctr">
                      <a:solidFill>
                        <a:srgbClr val="8CC7C1"/>
                      </a:solidFill>
                      <a:prstDash val="solid"/>
                      <a:round/>
                      <a:headEnd type="none" w="med" len="med"/>
                      <a:tailEnd type="none" w="med" len="med"/>
                    </a:lnL>
                    <a:lnR w="9525" cap="flat" cmpd="sng" algn="ctr">
                      <a:solidFill>
                        <a:srgbClr val="8CC7C1"/>
                      </a:solidFill>
                      <a:prstDash val="solid"/>
                      <a:round/>
                      <a:headEnd type="none" w="med" len="med"/>
                      <a:tailEnd type="none" w="med" len="med"/>
                    </a:lnR>
                    <a:lnT w="9525" cap="flat" cmpd="sng" algn="ctr">
                      <a:solidFill>
                        <a:srgbClr val="8CC7C1"/>
                      </a:solidFill>
                      <a:prstDash val="solid"/>
                      <a:round/>
                      <a:headEnd type="none" w="med" len="med"/>
                      <a:tailEnd type="none" w="med" len="med"/>
                    </a:lnT>
                    <a:lnB w="9525" cap="flat" cmpd="sng" algn="ctr">
                      <a:solidFill>
                        <a:srgbClr val="8CC7C1"/>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Sodyum hipoklorit</a:t>
                      </a:r>
                      <a:endParaRPr lang="en-US" sz="1400" dirty="0"/>
                    </a:p>
                  </a:txBody>
                  <a:tcPr marL="91440" marR="91440" marT="45720" marB="45720" anchor="ctr">
                    <a:lnL w="9525" cap="flat" cmpd="sng" algn="ctr">
                      <a:solidFill>
                        <a:srgbClr val="8CC7C1"/>
                      </a:solidFill>
                      <a:prstDash val="solid"/>
                      <a:round/>
                      <a:headEnd type="none" w="med" len="med"/>
                      <a:tailEnd type="none" w="med" len="med"/>
                    </a:lnL>
                    <a:lnR w="9525" cap="flat" cmpd="sng" algn="ctr">
                      <a:solidFill>
                        <a:srgbClr val="8CC7C1"/>
                      </a:solidFill>
                      <a:prstDash val="solid"/>
                      <a:round/>
                      <a:headEnd type="none" w="med" len="med"/>
                      <a:tailEnd type="none" w="med" len="med"/>
                    </a:lnR>
                    <a:lnT w="9525" cap="flat" cmpd="sng" algn="ctr">
                      <a:solidFill>
                        <a:srgbClr val="8CC7C1"/>
                      </a:solidFill>
                      <a:prstDash val="solid"/>
                      <a:round/>
                      <a:headEnd type="none" w="med" len="med"/>
                      <a:tailEnd type="none" w="med" len="med"/>
                    </a:lnT>
                    <a:lnB w="9525" cap="flat" cmpd="sng" algn="ctr">
                      <a:solidFill>
                        <a:srgbClr val="8CC7C1"/>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chemeClr val="tx2"/>
                          </a:solidFill>
                        </a:rPr>
                        <a:t>#20 (Universal)</a:t>
                      </a:r>
                      <a:endParaRPr lang="en-US" sz="1400" dirty="0"/>
                    </a:p>
                  </a:txBody>
                  <a:tcPr marL="91440" marR="91440" marT="45720" marB="45720" anchor="ctr">
                    <a:lnL w="9525" cap="flat" cmpd="sng" algn="ctr">
                      <a:solidFill>
                        <a:srgbClr val="8CC7C1"/>
                      </a:solidFill>
                      <a:prstDash val="solid"/>
                      <a:round/>
                      <a:headEnd type="none" w="med" len="med"/>
                      <a:tailEnd type="none" w="med" len="med"/>
                    </a:lnL>
                    <a:lnR w="9525" cap="flat" cmpd="sng" algn="ctr">
                      <a:solidFill>
                        <a:srgbClr val="8CC7C1"/>
                      </a:solidFill>
                      <a:prstDash val="solid"/>
                      <a:round/>
                      <a:headEnd type="none" w="med" len="med"/>
                      <a:tailEnd type="none" w="med" len="med"/>
                    </a:lnR>
                    <a:lnT w="9525" cap="flat" cmpd="sng" algn="ctr">
                      <a:solidFill>
                        <a:srgbClr val="8CC7C1"/>
                      </a:solidFill>
                      <a:prstDash val="solid"/>
                      <a:round/>
                      <a:headEnd type="none" w="med" len="med"/>
                      <a:tailEnd type="none" w="med" len="med"/>
                    </a:lnT>
                    <a:lnB w="9525" cap="flat" cmpd="sng" algn="ctr">
                      <a:solidFill>
                        <a:srgbClr val="8CC7C1"/>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FDI 35 – alt sol 2. küçük azı</a:t>
                      </a:r>
                      <a:endParaRPr lang="en-US" sz="1400" dirty="0"/>
                    </a:p>
                  </a:txBody>
                  <a:tcPr marL="91440" marR="91440" marT="45720" marB="45720" anchor="ctr">
                    <a:lnL w="9525" cap="flat" cmpd="sng" algn="ctr">
                      <a:solidFill>
                        <a:srgbClr val="8CC7C1"/>
                      </a:solidFill>
                      <a:prstDash val="solid"/>
                      <a:round/>
                      <a:headEnd type="none" w="med" len="med"/>
                      <a:tailEnd type="none" w="med" len="med"/>
                    </a:lnL>
                    <a:lnR w="9525" cap="flat" cmpd="sng" algn="ctr">
                      <a:solidFill>
                        <a:srgbClr val="8CC7C1"/>
                      </a:solidFill>
                      <a:prstDash val="solid"/>
                      <a:round/>
                      <a:headEnd type="none" w="med" len="med"/>
                      <a:tailEnd type="none" w="med" len="med"/>
                    </a:lnR>
                    <a:lnT w="9525" cap="flat" cmpd="sng" algn="ctr">
                      <a:solidFill>
                        <a:srgbClr val="8CC7C1"/>
                      </a:solidFill>
                      <a:prstDash val="solid"/>
                      <a:round/>
                      <a:headEnd type="none" w="med" len="med"/>
                      <a:tailEnd type="none" w="med" len="med"/>
                    </a:lnT>
                    <a:lnB w="9525" cap="flat" cmpd="sng" algn="ctr">
                      <a:solidFill>
                        <a:srgbClr val="8CC7C1"/>
                      </a:solidFill>
                      <a:prstDash val="solid"/>
                      <a:round/>
                      <a:headEnd type="none" w="med" len="med"/>
                      <a:tailEnd type="none" w="med" len="med"/>
                    </a:lnB>
                    <a:solidFill>
                      <a:srgbClr val="FFFFFF"/>
                    </a:solidFill>
                  </a:tcPr>
                </a:tc>
              </a:tr>
            </a:tbl>
          </a:graphicData>
        </a:graphic>
      </p:graphicFrame>
      <p:sp>
        <p:nvSpPr>
          <p:cNvPr id="4" name="Shape 1"/>
          <p:cNvSpPr/>
          <p:nvPr/>
        </p:nvSpPr>
        <p:spPr>
          <a:xfrm>
            <a:off x="6766560" y="1371600"/>
            <a:ext cx="4846320" cy="2834640"/>
          </a:xfrm>
          <a:prstGeom prst="roundRect">
            <a:avLst>
              <a:gd name="adj" fmla="val 3871"/>
            </a:avLst>
          </a:prstGeom>
          <a:solidFill>
            <a:schemeClr val="bg2"/>
          </a:solidFill>
          <a:ln/>
        </p:spPr>
      </p:sp>
      <p:sp>
        <p:nvSpPr>
          <p:cNvPr id="5" name="Text 2"/>
          <p:cNvSpPr txBox="1"/>
          <p:nvPr/>
        </p:nvSpPr>
        <p:spPr>
          <a:xfrm>
            <a:off x="7040880" y="1554480"/>
            <a:ext cx="4297680" cy="2514600"/>
          </a:xfrm>
          <a:prstGeom prst="rect">
            <a:avLst/>
          </a:prstGeom>
          <a:noFill/>
          <a:ln/>
        </p:spPr>
        <p:txBody>
          <a:bodyPr wrap="square" lIns="0" tIns="0" rIns="0" bIns="0" rtlCol="0" anchor="t"/>
          <a:lstStyle/>
          <a:p>
            <a:pPr indent="0" marL="0">
              <a:spcAft>
                <a:spcPts val="800"/>
              </a:spcAft>
              <a:buNone/>
            </a:pPr>
            <a:r>
              <a:rPr lang="en-US" sz="1800" b="1" dirty="0">
                <a:solidFill>
                  <a:schemeClr val="tx2"/>
                </a:solidFill>
              </a:rPr>
              <a:t>Kaynak makale</a:t>
            </a:r>
            <a:endParaRPr lang="en-US" sz="1800" dirty="0"/>
          </a:p>
          <a:p>
            <a:pPr indent="0" marL="0">
              <a:spcAft>
                <a:spcPts val="800"/>
              </a:spcAft>
              <a:buNone/>
            </a:pPr>
            <a:r>
              <a:rPr lang="en-US" sz="1400" dirty="0">
                <a:solidFill>
                  <a:schemeClr val="tx1"/>
                </a:solidFill>
              </a:rPr>
              <a:t>Qin L, Qiao W, Chen C, Lin Y, Zhang X, Meng L. Robot-Assisted Endodontic Retreatment: A Case Report with Clinical Considerations. J Endod. 2025;51(4):521–527.</a:t>
            </a:r>
            <a:endParaRPr lang="en-US" sz="1800" dirty="0"/>
          </a:p>
          <a:p>
            <a:pPr indent="0" marL="0">
              <a:spcAft>
                <a:spcPts val="800"/>
              </a:spcAft>
              <a:buNone/>
            </a:pPr>
            <a:r>
              <a:rPr lang="en-US" sz="1400" dirty="0">
                <a:solidFill>
                  <a:schemeClr val="accent1"/>
                </a:solidFill>
              </a:rPr>
              <a:t>doi:10.1016/j.joen.2025.01.015</a:t>
            </a:r>
            <a:endParaRPr lang="en-US" sz="1800" dirty="0"/>
          </a:p>
        </p:txBody>
      </p:sp>
      <p:sp>
        <p:nvSpPr>
          <p:cNvPr id="6" name="Text 3"/>
          <p:cNvSpPr txBox="1"/>
          <p:nvPr/>
        </p:nvSpPr>
        <p:spPr>
          <a:xfrm>
            <a:off x="6766560" y="4434840"/>
            <a:ext cx="4846320" cy="1097280"/>
          </a:xfrm>
          <a:prstGeom prst="rect">
            <a:avLst/>
          </a:prstGeom>
          <a:noFill/>
          <a:ln/>
        </p:spPr>
        <p:txBody>
          <a:bodyPr wrap="square" lIns="0" tIns="0" rIns="0" bIns="0" rtlCol="0" anchor="t"/>
          <a:lstStyle/>
          <a:p>
            <a:pPr indent="0" marL="0">
              <a:buNone/>
            </a:pPr>
            <a:r>
              <a:rPr lang="en-US" sz="1300" i="1" dirty="0">
                <a:solidFill>
                  <a:schemeClr val="accent5"/>
                </a:solidFill>
              </a:rPr>
              <a:t>Tüm klinik görseller kaynak makaleden alınmıştır. Bu sunum makalenin Türkçe özet uyarlamasıdır; ayrıntılar için özgün makaleye başvurunuz.</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Endo Robot">
  <a:themeElements>
    <a:clrScheme name="Endo Robot">
      <a:dk1>
        <a:srgbClr val="1B2A2F"/>
      </a:dk1>
      <a:lt1>
        <a:srgbClr val="FFFFFF"/>
      </a:lt1>
      <a:dk2>
        <a:srgbClr val="0D3B44"/>
      </a:dk2>
      <a:lt2>
        <a:srgbClr val="EAF3F2"/>
      </a:lt2>
      <a:accent1>
        <a:srgbClr val="13807D"/>
      </a:accent1>
      <a:accent2>
        <a:srgbClr val="E0763A"/>
      </a:accent2>
      <a:accent3>
        <a:srgbClr val="8CC7C1"/>
      </a:accent3>
      <a:accent4>
        <a:srgbClr val="C2483F"/>
      </a:accent4>
      <a:accent5>
        <a:srgbClr val="56707A"/>
      </a:accent5>
      <a:accent6>
        <a:srgbClr val="F2C14E"/>
      </a:accent6>
      <a:hlink>
        <a:srgbClr val="13807D"/>
      </a:hlink>
      <a:folHlink>
        <a:srgbClr val="56707A"/>
      </a:folHlink>
    </a:clrScheme>
    <a:fontScheme name="Endo Robo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Robot Destekli Endodontik Yeniden Tedavi</dc:title>
  <dc:subject>Olgu sunumu – Türkçe özet sunum</dc:subject>
  <dc:creator>Türkçe sunum – Qin ve ark. (J Endod 2025) makalesinden</dc:creator>
  <cp:lastModifiedBy>Türkçe sunum – Qin ve ark. (J Endod 2025) makalesinden</cp:lastModifiedBy>
  <cp:revision>1</cp:revision>
  <dcterms:created xsi:type="dcterms:W3CDTF">2026-10-05T09:39:25Z</dcterms:created>
  <dcterms:modified xsi:type="dcterms:W3CDTF">2026-10-05T09:39:25Z</dcterms:modified>
</cp:coreProperties>
</file>